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E42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B2E42"/>
                </a:solidFill>
                <a:latin typeface="Cambria"/>
              </a:rPr>
              <a:t>Fibre mix — World vs India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Man-made fibre (MMF)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World</c:v>
                  </c:pt>
                  <c:pt idx="1">
                    <c:v>India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Natural fibre (cotton/wool)</c:v>
                </c:pt>
              </c:strCache>
            </c:strRef>
          </c:tx>
          <c:spPr>
            <a:solidFill>
              <a:srgbClr val="C9D6D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World</c:v>
                  </c:pt>
                  <c:pt idx="1">
                    <c:v>India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0B2E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2E4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trade</c:v>
                </c:pt>
              </c:strCache>
            </c:strRef>
          </c:tx>
          <c:spPr>
            <a:solidFill>
              <a:srgbClr val="1C7293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2E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Packtech</c:v>
                  </c:pt>
                  <c:pt idx="1">
                    <c:v>Agrotech</c:v>
                  </c:pt>
                  <c:pt idx="2">
                    <c:v>Meditech</c:v>
                  </c:pt>
                  <c:pt idx="3">
                    <c:v>Indutech</c:v>
                  </c:pt>
                  <c:pt idx="4">
                    <c:v>Specialty fibres</c:v>
                  </c:pt>
                  <c:pt idx="5">
                    <c:v>Hometech</c:v>
                  </c:pt>
                  <c:pt idx="6">
                    <c:v>Mobiltech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754</c:v>
                </c:pt>
                <c:pt idx="1">
                  <c:v>60</c:v>
                </c:pt>
                <c:pt idx="2">
                  <c:v>54</c:v>
                </c:pt>
                <c:pt idx="3">
                  <c:v>52</c:v>
                </c:pt>
                <c:pt idx="4">
                  <c:v>-39</c:v>
                </c:pt>
                <c:pt idx="5">
                  <c:v>-111</c:v>
                </c:pt>
                <c:pt idx="6">
                  <c:v>-351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2E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1050" b="0" i="0" u="none" strike="noStrike">
                <a:solidFill>
                  <a:srgbClr val="0B2E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the deck traces India's textile trade, the rising MMF demand, and how ethanol substituting petrol frees petrochemical feedstock to close the loop into value-added man-made fibre.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is a large net textile exporter (apparel surplus, technical-textile surplus) but imports ~$4.5bn of MMF textiles. Three baskets have opposite fibre profiles: apparel cotton-skewed, technical MMF-intensive, handloom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MMF is ~75% and widening; India is roughly the inverse and targets a 60% MMF mix. Polyester dominates and is 88% fossil-based — the demand wall the feedstock story must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NTTM Compendium 2024 Trade Trends (DGCIS). India flipped to a net technical-textile exporter but the surplus is Packtech-dependent; the deficits (Mobiltech, Hometech, specialty fibres) are exactly the MMF- and specialty-fibre-intensive segments.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National Fibre Mission 2030-31 Concept Note (Ministry of Textiles). MMF production target 75-&gt;130 lakh MT; imports rising 24-&gt;31.5 lakh MT; PLI covers only downstream fabric/apparel; the Mission explicitly calls for local MMF feedstock via petrochemical pathways and recycled raw material — i.e. the loop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from the omc-retail-profitability-model repo (da Silva). Ethanol/EVs cap petrol demand; the freed naphtha and reformate are the feedstock for the petrochemical 'blue ocean'.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Olefins half from the naphtha cracker (MEG, PP, ACN, BDO); aromatics half from the reformer + aromatics complex (PX→PTA, benzene→caprolactam). Same reformer that today raises petrol octane.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fibre-polymer subset of the petrochemical import tree, with hard volumes (ACN 164kt 2023, caprolactam ~150kt 2022) and industry ranges (MEG). PE/PP are all-use; only fibre grade is textile-attributable.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loop: ethanol frees feedstock, which becomes MMF polymer, which substitutes both the fibre-feedstock import bill and the technical-textile deficit, with rPET supplementing downstream.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MMF demand is structural, India's deficit is specialty-MMF, ethanol frees the exact feedstock, and the loop closes with ~2 MMT/yr import substitution plus petrochemical margin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4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640080"/>
            <a:ext cx="292608" cy="12801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640080"/>
            <a:ext cx="292608" cy="12801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0" y="640080"/>
            <a:ext cx="292608" cy="1280160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FUEL TO FIBRE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Textile → MMF → Petrochemical Loop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rising man-made-fibre demand and ethanol-for-petrol substitution converge to build a domestic feedstock-to-value-added-fibre chain.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 →  Chemicals  →  Fibre  →  Recycle  →  Fibre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textile trade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01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 bn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apparel exports, FY25  (6th largest globally)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01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share of global textile &amp; apparel trade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90195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+$532 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63640" y="2697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Technical-textile net trade SURPLUS, FY24 (from deficit in FY19)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72491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901952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~$4.5 bn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52560" y="26974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 textiles India still IMPORTS / yr (China &gt;55%)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export baskets, three fibre profiles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343400"/>
            <a:ext cx="201168" cy="14630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4370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Apparel  (HS 61 &amp; 62)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$16 bn — large surplus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5257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Cotton-skewed; MMF lines underweight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15968" y="4114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44568" y="4343400"/>
            <a:ext cx="201168" cy="14630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4882896" y="4370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textiles  (207 codes)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82896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$2.59 bn / Imp $2.05 bn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82896" y="5257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 + specialty-fibre intensive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83296" y="41148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11896" y="4343400"/>
            <a:ext cx="201168" cy="1463040"/>
          </a:xfrm>
          <a:prstGeom prst="roundRect">
            <a:avLst>
              <a:gd name="adj" fmla="val 50000"/>
            </a:avLst>
          </a:prstGeom>
          <a:solidFill>
            <a:srgbClr val="2E8B6E"/>
          </a:solidFill>
          <a:ln/>
        </p:spPr>
      </p:sp>
      <p:sp>
        <p:nvSpPr>
          <p:cNvPr id="29" name="Text 27"/>
          <p:cNvSpPr/>
          <p:nvPr/>
        </p:nvSpPr>
        <p:spPr>
          <a:xfrm>
            <a:off x="8650224" y="4370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Handloom  (HS 50/57/58/63)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50224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~ −4%/yr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50224" y="5257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artisanal, home-textile led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runs on man-made fibre — India is catching 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8308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0" y="189280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 MT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549640" y="18745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fibre output 2024, +6.5% YoY; synthetics now 69% (up 9pts since 2020)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28346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0" y="294436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MT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549640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polyester alone — 59% of all fibre, but 88% fossil-based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388620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0" y="399592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549640" y="39776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target MMF share (National Fibre Mission) — up from a cotton-heavy ~40%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5120" y="49377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0" y="504748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PLI + NTTM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549640" y="5029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deliberately steer to MMF &amp; technical textiles — not cotton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deficit is a specialty-MMF deficit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Technical-textile net trade by segment, FY24 (USD Mn) — the surplus is Packtech-only; the deficits are MMF/specialty-fibre segments.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2011680"/>
            <a:ext cx="3913632" cy="1828800"/>
          </a:xfrm>
          <a:prstGeom prst="roundRect">
            <a:avLst>
              <a:gd name="adj" fmla="val 4000"/>
            </a:avLst>
          </a:prstGeom>
          <a:solidFill>
            <a:srgbClr val="FBEEE9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095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IMPORTER — the priority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251460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Mobiltech  −$351M</a:t>
            </a:r>
            <a:endParaRPr lang="en-US" sz="1250" dirty="0"/>
          </a:p>
          <a:p>
            <a:pPr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nylon tyre cord, airbag &amp; seatbelt yarn</a:t>
            </a:r>
            <a:endParaRPr lang="en-US" sz="12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Hometech  −$111M   ·   Specialty fibres  +275% imports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26680" y="3977640"/>
            <a:ext cx="3913632" cy="1920240"/>
          </a:xfrm>
          <a:prstGeom prst="roundRect">
            <a:avLst>
              <a:gd name="adj" fmla="val 3810"/>
            </a:avLst>
          </a:prstGeom>
          <a:solidFill>
            <a:srgbClr val="EAF3E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EXPORTER — the concentration risk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44805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Packtech alone (+$754M) carries India's entire technical-textile surplus — and it's the lowest-tech, jute/PP-sack segment. Strip it out and India is still a net importer.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ANCHOR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mandate: National Fibre Mission 2030-31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official target set — and it explicitly calls for the petrochemical-feedstock + recycling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391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₹13.6 L cr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MMF's contribution to the economy, 2024-25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18745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20391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→ 130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538728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 MT — MMF production target by 2030-31 (CAGR 9.6%); global rank 2 →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7764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→ 31.5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 MT — MMF imports rising to 2030-31: the substitution prize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01568" y="36118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38728" y="37764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538728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target share of global MMF production (from 10%); China alone &gt;70%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874520"/>
            <a:ext cx="5239512" cy="1600200"/>
          </a:xfrm>
          <a:prstGeom prst="roundRect">
            <a:avLst>
              <a:gd name="adj" fmla="val 4571"/>
            </a:avLst>
          </a:prstGeom>
          <a:solidFill>
            <a:srgbClr val="FBF2E6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PLI leaves open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for Textiles (₹10,683 cr) boosts MMF fabric &amp; apparel — but “focuses on downstream”. Upstream MMF feedstock &amp; specialty fibres stay import-reliant.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5239512" cy="2240280"/>
          </a:xfrm>
          <a:prstGeom prst="roundRect">
            <a:avLst>
              <a:gd name="adj" fmla="val 3265"/>
            </a:avLst>
          </a:prstGeom>
          <a:solidFill>
            <a:srgbClr val="0B2E4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3767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Mission's own words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41148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E9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“Incentivise local MMF feedstock production through sustainable chemical pathways and recycled raw material use.”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“…promoting recycled MMF production and investment in advanced petrochemical value chains.”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UNLOCK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 substitutes petrol — and frees the feedstock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Gasoline is a commoditised, declining “red ocean.” Petrochemicals are the growing “blue ocean.” Ethanol + EVs cap petrol demand and release naphtha &amp; reformate to redeploy.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2384E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OCEAN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/ gasoline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Commoditised, thin margin, structurally declining (EVs, efficiency)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≈ 10.8 bn L  ·  E30 ≈ 16 bn L of petrol displaced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petrol-range naphtha + reformate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376672" cy="3566160"/>
          </a:xfrm>
          <a:prstGeom prst="roundRect">
            <a:avLst>
              <a:gd name="adj" fmla="val 2051"/>
            </a:avLst>
          </a:prstGeom>
          <a:solidFill>
            <a:srgbClr val="12384E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286000"/>
            <a:ext cx="5376672" cy="3566160"/>
          </a:xfrm>
          <a:prstGeom prst="roundRect">
            <a:avLst>
              <a:gd name="adj" fmla="val 2564"/>
            </a:avLst>
          </a:prstGeom>
          <a:ln w="25400">
            <a:solidFill>
              <a:srgbClr val="2E8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OCEAN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Petrochemicals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3680" y="34290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~4.25%/yr in Asia; ~90% of world crude-demand growth is petrochemical-driven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refiner adds ~$0.7–2.0 / bbl vs a fuels-only peer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reformer that makes petrol octane makes paraxylene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 CREATION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the conversion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86000" cy="3840480"/>
          </a:xfrm>
          <a:prstGeom prst="roundRect">
            <a:avLst>
              <a:gd name="adj" fmla="val 3200"/>
            </a:avLst>
          </a:prstGeom>
          <a:solidFill>
            <a:srgbClr val="0B2E4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30175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FREED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PETROL-RANGE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FEEDSTOCK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Naphtha  +  Reformate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68580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3703320" y="196596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2093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Naphtha steam cracker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Ethylene · Propylene · C4 (olefins)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2468880"/>
            <a:ext cx="685800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635240" y="1965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35240" y="1965960"/>
            <a:ext cx="3977640" cy="1463040"/>
          </a:xfrm>
          <a:prstGeom prst="roundRect">
            <a:avLst>
              <a:gd name="adj" fmla="val 5000"/>
            </a:avLst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093976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MEG, polypropylene, acrylonitrile, BDO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926080" y="4663440"/>
            <a:ext cx="685800" cy="45720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3703320" y="4160520"/>
            <a:ext cx="3063240" cy="146304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0" y="4288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Catalytic reformer + aromatics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4709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Paraxylene · Benzene (BTX aromatics)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4663440"/>
            <a:ext cx="685800" cy="45720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416052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4160520"/>
            <a:ext cx="3977640" cy="1463040"/>
          </a:xfrm>
          <a:prstGeom prst="roundRect">
            <a:avLst>
              <a:gd name="adj" fmla="val 5000"/>
            </a:avLst>
          </a:prstGeom>
          <a:ln w="1905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4288536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PTA → polyester, caprolactam → nylon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Synergy: the steam cracker (olefins) and aromatics complex share feed &amp; utilities — integrating both extracts maximum value per barrel.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PRODUCTS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Textile petrochemicals India can produce &amp; import-substitute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818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828800"/>
                <a:gridCol w="1417320"/>
                <a:gridCol w="868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Petrochemical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vol / yr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dep.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Polyester (PET)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PTA (←paraxylene) + MEG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xylenes / ethylene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 ~1.5–2.0 MMT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 (PAN)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Acrylonitrile (ACN)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propylene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~0.16 MMT (164 kt)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Nylon 6 / 6,6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Caprolactam / adipic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benzene → cyclohexane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~0.15 MMT (150 kt)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Spandex / PBT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BDO → PTMEG + MDI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 + benzene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~0.05–0.10 MMT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 fibre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Polypropylene (fibre grade)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propylene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 MMT (all-use)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~20–25%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 tape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ethylene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~3.1 MMT (all-use)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E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~25–40%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508760"/>
            <a:ext cx="3044952" cy="4343400"/>
          </a:xfrm>
          <a:prstGeom prst="roundRect">
            <a:avLst>
              <a:gd name="adj" fmla="val 2402"/>
            </a:avLst>
          </a:prstGeom>
          <a:solidFill>
            <a:srgbClr val="0B2E42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2396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prize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823960" y="21488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 MMT</a:t>
            </a:r>
            <a:endParaRPr lang="en-US" sz="26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synthetic-fibre market, 2024 (PFY 2.53 MMT)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823960" y="34290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~2.0–2.4 MMT/yr</a:t>
            </a:r>
            <a:endParaRPr lang="en-US" sz="2200" dirty="0"/>
          </a:p>
          <a:p>
            <a:pPr indent="0" marL="0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fibre-monomer imports open to substitution (~$1.5 bn) + fibre grade of PE/PP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23960" y="5074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Cellulosic (viscose/lyocell) is wood-pulp — NOT on this petro loop.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→ Chemicals → Fibre → Recycle → Fibre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2860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displaces petrol (E20/E30)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2880360"/>
            <a:ext cx="201168" cy="365760"/>
          </a:xfrm>
          <a:prstGeom prst="rightArrow">
            <a:avLst/>
          </a:prstGeom>
          <a:solidFill>
            <a:srgbClr val="5C6B75"/>
          </a:solidFill>
          <a:ln/>
        </p:spPr>
      </p:sp>
      <p:sp>
        <p:nvSpPr>
          <p:cNvPr id="10" name="Shape 8"/>
          <p:cNvSpPr/>
          <p:nvPr/>
        </p:nvSpPr>
        <p:spPr>
          <a:xfrm>
            <a:off x="2862072" y="210312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286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53512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Feedstock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9232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 naphtha + reformate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46904" y="2880360"/>
            <a:ext cx="201168" cy="365760"/>
          </a:xfrm>
          <a:prstGeom prst="rightArrow">
            <a:avLst/>
          </a:prstGeom>
          <a:solidFill>
            <a:srgbClr val="5C6B75"/>
          </a:solidFill>
          <a:ln/>
        </p:spPr>
      </p:sp>
      <p:sp>
        <p:nvSpPr>
          <p:cNvPr id="16" name="Shape 14"/>
          <p:cNvSpPr/>
          <p:nvPr/>
        </p:nvSpPr>
        <p:spPr>
          <a:xfrm>
            <a:off x="5175504" y="210312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B2E42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52744" y="2286000"/>
            <a:ext cx="502920" cy="502920"/>
          </a:xfrm>
          <a:prstGeom prst="ellipse">
            <a:avLst/>
          </a:prstGeom>
          <a:solidFill>
            <a:srgbClr val="0B2E42"/>
          </a:solidFill>
          <a:ln/>
        </p:spPr>
      </p:sp>
      <p:sp>
        <p:nvSpPr>
          <p:cNvPr id="18" name="Text 16"/>
          <p:cNvSpPr/>
          <p:nvPr/>
        </p:nvSpPr>
        <p:spPr>
          <a:xfrm>
            <a:off x="5952744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66944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12664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Cracker + reformer → olefins &amp; aromatics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0336" y="2880360"/>
            <a:ext cx="201168" cy="365760"/>
          </a:xfrm>
          <a:prstGeom prst="rightArrow">
            <a:avLst/>
          </a:prstGeom>
          <a:solidFill>
            <a:srgbClr val="5C6B75"/>
          </a:solidFill>
          <a:ln/>
        </p:spPr>
      </p:sp>
      <p:sp>
        <p:nvSpPr>
          <p:cNvPr id="22" name="Shape 20"/>
          <p:cNvSpPr/>
          <p:nvPr/>
        </p:nvSpPr>
        <p:spPr>
          <a:xfrm>
            <a:off x="7488936" y="210312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2E8B6E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66176" y="2286000"/>
            <a:ext cx="502920" cy="502920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24" name="Text 22"/>
          <p:cNvSpPr/>
          <p:nvPr/>
        </p:nvSpPr>
        <p:spPr>
          <a:xfrm>
            <a:off x="8266176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80376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6096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Polyester · acrylic · nylon · spandex · PP/PE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73768" y="2880360"/>
            <a:ext cx="201168" cy="365760"/>
          </a:xfrm>
          <a:prstGeom prst="rightArrow">
            <a:avLst/>
          </a:prstGeom>
          <a:solidFill>
            <a:srgbClr val="5C6B75"/>
          </a:solidFill>
          <a:ln/>
        </p:spPr>
      </p:sp>
      <p:sp>
        <p:nvSpPr>
          <p:cNvPr id="28" name="Shape 26"/>
          <p:cNvSpPr/>
          <p:nvPr/>
        </p:nvSpPr>
        <p:spPr>
          <a:xfrm>
            <a:off x="9802368" y="210312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7A9A3C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79608" y="2286000"/>
            <a:ext cx="502920" cy="502920"/>
          </a:xfrm>
          <a:prstGeom prst="ellipse">
            <a:avLst/>
          </a:prstGeom>
          <a:solidFill>
            <a:srgbClr val="7A9A3C"/>
          </a:solidFill>
          <a:ln/>
        </p:spPr>
      </p:sp>
      <p:sp>
        <p:nvSpPr>
          <p:cNvPr id="30" name="Text 28"/>
          <p:cNvSpPr/>
          <p:nvPr/>
        </p:nvSpPr>
        <p:spPr>
          <a:xfrm>
            <a:off x="10579608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93808" y="2880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9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39528" y="3291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rPET supplements virgin MMF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25196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A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virgin domestic polymer + recycled polyester feed the same fibre demand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800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Substitutes MMF feedstock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5349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MMT/yr of MEG, ACN, caprolactam, BDO — turns dollar imports into domestic feedstock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15968" y="4800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98848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 the technical-textile gap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498848" y="5349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Mobiltech (nylon), Hometech (PP nonwoven) &amp; specialty (PAN→carbon fibre) deficits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83296" y="4800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66176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petrochemical margin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66176" y="5349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+$1.5–2 / bbl vs thin fuel margin; virgin polymer that rPET then supplements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Fibre  •  India Textile–MMF–Petrochemical Loop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opportunity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764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63440" y="17373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fibre is ~75% MMF and widening; India targets a 60% MMF mix — the pull is structural, not cyclical.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8437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specialty-MMF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81635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technical-textile surplus is Packtech-only; the deficits (Mobiltech, Hometech, specialty) are all MMF/specialty-fibre.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9227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 supplies the feedstock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89534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E20/E30 free naphtha &amp; reformate — the exact building blocks of polyester, acrylic, nylon, spandex, PP/PE.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0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5001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closes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4974336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→ chemicals → fibre → rPET → fibre: substitute ~2 MMT/yr of imports and capture petrochemical margin.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DGCIS / NTTM Compendium 2024 · MATEXIL · Textile Exchange 2025 · DCPC / ICIS petrochemical tree · omc-retail-profitability-model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2026-07-25T14:26:21Z</dcterms:created>
  <dcterms:modified xsi:type="dcterms:W3CDTF">2026-07-25T14:26:21Z</dcterms:modified>
</cp:coreProperties>
</file>