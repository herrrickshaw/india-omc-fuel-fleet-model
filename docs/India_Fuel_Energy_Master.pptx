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₹/km</c:v>
                </c:pt>
              </c:strCache>
            </c:strRef>
          </c:tx>
          <c:spPr>
            <a:solidFill>
              <a:srgbClr val="D2892C"/>
            </a:solidFill>
            <a:effectLst/>
          </c:spPr>
          <c:invertIfNegative val="0"/>
          <c:dLbls>
            <c:numFmt formatCode="₹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25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289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9E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D6E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6B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F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9E6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Petrol (E20)</c:v>
                  </c:pt>
                  <c:pt idx="1">
                    <c:v>EV — public fast</c:v>
                  </c:pt>
                  <c:pt idx="2">
                    <c:v>Diesel</c:v>
                  </c:pt>
                  <c:pt idx="3">
                    <c:v>Hybrid</c:v>
                  </c:pt>
                  <c:pt idx="4">
                    <c:v>CNG</c:v>
                  </c:pt>
                  <c:pt idx="5">
                    <c:v>EV — home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6.25</c:v>
                </c:pt>
                <c:pt idx="1">
                  <c:v>3.3</c:v>
                </c:pt>
                <c:pt idx="2">
                  <c:v>4.5</c:v>
                </c:pt>
                <c:pt idx="3">
                  <c:v>4.17</c:v>
                </c:pt>
                <c:pt idx="4">
                  <c:v>3.15</c:v>
                </c:pt>
                <c:pt idx="5">
                  <c:v>1.2</c:v>
                </c:pt>
              </c:numCache>
            </c:numRef>
          </c:val>
        </c:ser>
        <c:dLbls>
          <c:numFmt formatCode="₹0.00" sourceLinked="0"/>
          <c:txPr>
            <a:bodyPr/>
            <a:lstStyle/>
            <a:p>
              <a:pPr>
                <a:defRPr b="1" i="0" strike="noStrike" sz="1200" u="none">
                  <a:solidFill>
                    <a:srgbClr val="1425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5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Depreciation (on-road − resale)</c:v>
                </c:pt>
              </c:strCache>
            </c:strRef>
          </c:tx>
          <c:spPr>
            <a:solidFill>
              <a:srgbClr val="5D6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Petrol</c:v>
                  </c:pt>
                  <c:pt idx="1">
                    <c:v>CNG</c:v>
                  </c:pt>
                  <c:pt idx="2">
                    <c:v>EV</c:v>
                  </c:pt>
                  <c:pt idx="3">
                    <c:v>Diesel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6.5</c:v>
                </c:pt>
                <c:pt idx="1">
                  <c:v>7.4</c:v>
                </c:pt>
                <c:pt idx="2">
                  <c:v>9.6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Fuel + maintenance (5 yr)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Petrol</c:v>
                  </c:pt>
                  <c:pt idx="1">
                    <c:v>CNG</c:v>
                  </c:pt>
                  <c:pt idx="2">
                    <c:v>EV</c:v>
                  </c:pt>
                  <c:pt idx="3">
                    <c:v>Diesel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4.35</c:v>
                </c:pt>
                <c:pt idx="1">
                  <c:v>2.6</c:v>
                </c:pt>
                <c:pt idx="2">
                  <c:v>1.4</c:v>
                </c:pt>
                <c:pt idx="3">
                  <c:v>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5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4251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ENERGY · 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69164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Fuel, vehicles &amp; forex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drive — and why India's fuel choices are a $150-billion forex question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lenses on the same barrel: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buyer's running cost,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nation's import bill. From petrol to petrochemicals, one rupee-vs-dollar loop.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PPAC · DGCIS/Tradestat · DCPC · FADA/Vahan · SIAM · ICIS · CarWale/CarDekho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BUYER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fuel? It depends on how — and where — you drive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₹3.15/km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 — cheapest fuel you can just pump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 vs ₹3.3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6557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/km: home vs public fast charging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₹10.0L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5449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5-yr cost (CNG, Tata Nexon)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33688" y="2176272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~25k km/yr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43416" y="2871216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mileage an EV needs to win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14251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 is the cheapest to run; petrol the dearest.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 is unbeatable at ₹1.20/km —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D2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on home charging;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public fast charger (₹18–26/kWh) it's ₹3.30/km, about a CNG. Over 5 years at average use the EV ≈ petrol; it pulls ahead only with home charging and high mileage.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car to your parking spot and your odometer.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basis, 2026 metro prices &amp; efficiency. Public-charging tariffs advertised 2026 (Tata Power/ChargeZone/Statiq).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choices are a rupee-vs-dollar question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$274 bn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essential imports / yr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55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6557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trade deficit is mineral fuels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8–12 MT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5449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freed by ethanol (E20→E30)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33688" y="2176272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$5–9 bn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43416" y="2871216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 freed — for a rupee cost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14251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is made in India, paid in rupees to farmers; the crude and chemicals it offsets are paid in dollars.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ethanol swaps a forex outflow for domestic rural income —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petrol-range feedstock it frees is exactly what makes the petrochemicals India imports. Rupee feedstock displacing dollar imports, one link down the chain.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DGCIS/Tradestat (CY2024) · PPAC RR · conversions per PPAC Table 9.2/9.3.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lever: a PLI for chemicals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55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 bn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imports / yr (DCPC)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~$15 bn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6557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petroleum-feedstock substitutable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→ 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5449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sectors, none for chemicals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33688" y="2176272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$7–8 bn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43416" y="2871216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 a chemicals PLI could save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14251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pharma, autos, solar and steel all have a Production-Linked Incentive — chemicals do not, despite being the 4th-largest essential dollar drain.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4–6% PLI on the HSN-coded import list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(PTA, polypropylene, HDPE, styrene, polycarbonate, MDI) would substitute imports permanently — the same instrument that made India a mobile-phone exporter.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DCPC Statistics-at-a-Glance 2025 · PIB / FM statement (PLI under consideration) · DGCIS.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all adds up 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71600" y="211226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Buyers: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 is cheapest to run; the EV wins only with home charging and high mileage — otherwise it ≈ petrol.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8FA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71600" y="29352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Forex: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fuels are ~54% of India's trade deficit — the single biggest lever on the current account.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2892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71600" y="375818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Ethanol: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dollar crude imports into rupee farm income — energy security with a rural dividend.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4617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8FA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45811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Chemicals: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freed petrol-range feedstock can make the ~$15 bn of petrochemicals India still imports.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71600" y="540410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gap: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chemicals PLI is the missing policy — the only large essential import without one.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" y="6355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Rupee feedstock, displacing dollar imports — from the pump to the petrochemical plant.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2026 · BUYER'S GUIDE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6459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&amp; vehicle choices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 · Diesel · CNG · Hybrid · Electric — what each really costs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version — with real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on-road public EV charging rates (₹18–26/kWh)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cheap home charging. Metro prices, real-world efficiency, pros and cons.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July 2026 (metro avg) · efficiency SIAM-based · charging tariffs advertised 2026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RUNNING-COST LADDER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to drive 1 km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basis, ₹ per km at the wheel. EV swings hugely with where you charge.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7863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2103120"/>
            <a:ext cx="3108960" cy="4023360"/>
          </a:xfrm>
          <a:prstGeom prst="roundRect">
            <a:avLst>
              <a:gd name="adj" fmla="val 2647"/>
            </a:avLst>
          </a:prstGeom>
          <a:solidFill>
            <a:srgbClr val="14251D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778240" y="288036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home charging the EV is unbeatable — ₹1.20/km.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 a real public fast charger it's ₹3.30/km — about the same as CNG, and dearer than you'd expect.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 is the cheapest fuel you can just pump.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Prices: petrol ₹100/L · diesel ₹90/L · CNG ₹82/kg · home ₹8/kWh · public DC ₹22/kWh. Efficiency real-world (SIAM-based).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Price, efficiency &amp; cost per km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14251D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0" y="19659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price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0" y="19659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efficiency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875520" y="196596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km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9806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D2892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7919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 (E20)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6791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/ litre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6791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kmpl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875520" y="267919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₹6.25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31927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3814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5D6E7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1927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31927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 / litre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23760" y="331927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kmpl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875520" y="331927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D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₹4.50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95935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7822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A6BB0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95935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(petrol)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395935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/ litre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23760" y="395935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kmpl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875520" y="3959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A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₹4.17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59943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71830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2E8FA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59943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0" y="459943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₹82 / kg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223760" y="459943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km/kg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875520" y="459943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₹3.15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523951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35838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2E9E6B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523951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— home charge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0" y="52395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 / kWh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223760" y="52395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km/kWh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875520" y="52395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8640" y="587959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99846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2E9E6B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587959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— public fast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0" y="58795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 / kWh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223760" y="58795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km/kWh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875520" y="587959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₹3.30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July 2026 prices · efficiency real-world (below SIAM certified, incl. E20 mileage drop) · car basis, 15 kWh/100 km EV.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 number depends entirely on where you plug 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CHARGING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₹8/kWh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₹1.20 / km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Overnight, domestic slab. This is the “EV is 5× cheaper” number everyone quotes —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needs a parking spot with a plug.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14251D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286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DC FAST CHARGING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₹18–26/kWh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₹3.30 / km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92240" y="42976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₹17 · ChargeZone ₹20–25 · Statiq ₹15–25. On the road the EV costs about the same as CNG —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more than a diesel is often assumed to.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Advertised 2026 tariffs (GreenTax, ChargeZone, network sites). Home charging assumes a dedicated wall-box + domestic connection.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you can just refuel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3429000" cy="658368"/>
          </a:xfrm>
          <a:prstGeom prst="roundRect">
            <a:avLst>
              <a:gd name="adj" fmla="val 13889"/>
            </a:avLst>
          </a:prstGeom>
          <a:solidFill>
            <a:srgbClr val="D2892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95144"/>
            <a:ext cx="3429000" cy="329184"/>
          </a:xfrm>
          <a:prstGeom prst="rect">
            <a:avLst/>
          </a:prstGeom>
          <a:solidFill>
            <a:srgbClr val="D289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8424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 (E20)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1984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₹6.25/km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to buy, widest choice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everywhere, smooth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resale, no range worry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041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running cost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4256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trims mileage 2–6%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80974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heavily taxed fuel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51960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2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1960" y="1965960"/>
            <a:ext cx="3429000" cy="658368"/>
          </a:xfrm>
          <a:prstGeom prst="roundRect">
            <a:avLst>
              <a:gd name="adj" fmla="val 13889"/>
            </a:avLst>
          </a:prstGeom>
          <a:solidFill>
            <a:srgbClr val="5D6E78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2295144"/>
            <a:ext cx="3429000" cy="329184"/>
          </a:xfrm>
          <a:prstGeom prst="rect">
            <a:avLst/>
          </a:prstGeom>
          <a:solidFill>
            <a:srgbClr val="5D6E78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98424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80760" y="1984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₹4.50/km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28346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mileage &amp; torque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32186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highways / high-km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80560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range per tank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80560" y="4041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Pricier to buy &amp; service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80560" y="44256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bans in some cities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80560" y="480974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NOx / upkeep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55280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2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55280" y="1965960"/>
            <a:ext cx="3429000" cy="658368"/>
          </a:xfrm>
          <a:prstGeom prst="roundRect">
            <a:avLst>
              <a:gd name="adj" fmla="val 13889"/>
            </a:avLst>
          </a:prstGeom>
          <a:solidFill>
            <a:srgbClr val="2E8FA0"/>
          </a:solidFill>
          <a:ln/>
        </p:spPr>
      </p:sp>
      <p:sp>
        <p:nvSpPr>
          <p:cNvPr id="28" name="Shape 26"/>
          <p:cNvSpPr/>
          <p:nvPr/>
        </p:nvSpPr>
        <p:spPr>
          <a:xfrm>
            <a:off x="7955280" y="2295144"/>
            <a:ext cx="3429000" cy="329184"/>
          </a:xfrm>
          <a:prstGeom prst="rect">
            <a:avLst/>
          </a:prstGeom>
          <a:solidFill>
            <a:srgbClr val="2E8FA0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198424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CNG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784080" y="1984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₹3.15/km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83880" y="28346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fuel you can pump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83880" y="32186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burn, low running cost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83880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Bi-fuel fallback to petrol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83880" y="4041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stations, queues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183880" y="44256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 eats boot space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183880" y="480974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models, less power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basis. CNG has the lowest pump-fuel cost per km of any fossil option; petrol the highest.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that change the maths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7A6BB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95144"/>
            <a:ext cx="5394960" cy="329184"/>
          </a:xfrm>
          <a:prstGeom prst="rect">
            <a:avLst/>
          </a:prstGeom>
          <a:solidFill>
            <a:srgbClr val="7A6BB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842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Hybrid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1984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₹4.17/km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better mileage than petrol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2369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plug, no range anxiety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6393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emissions, smooth, quiet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041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Self-charging battery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44988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upfront price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9011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GST on large hybrids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303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cost over long term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57058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models on sale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2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96596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2E9E6B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2295144"/>
            <a:ext cx="5394960" cy="32918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9842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 (EV)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12680" y="1984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₹1.20–3.30/km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28346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Unbeatable on home charging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32369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tailpipe, 5% GST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46520" y="36393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maintenance, quiet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46520" y="4041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4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per km — if you charge at home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46520" y="44988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fast charging dear (₹18–26/kWh)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46520" y="49011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upfront cost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/ charging-time anxiety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46520" y="57058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replacement &amp; resale risk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 case lives or dies on home-charging access — the single biggest variable in the whole comparison.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years on a real Tata Nexon — all four fuels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on-road: petrol ₹12.3L · CNG ₹13.3L · diesel ₹14.5L · EV ₹16.0L. 12,000 km/yr, net of resale.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57400"/>
          <a:ext cx="7818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2057400"/>
            <a:ext cx="3154680" cy="3383280"/>
          </a:xfrm>
          <a:prstGeom prst="roundRect">
            <a:avLst>
              <a:gd name="adj" fmla="val 2609"/>
            </a:avLst>
          </a:prstGeom>
          <a:solidFill>
            <a:srgbClr val="14251D"/>
          </a:solidFill>
          <a:ln/>
        </p:spPr>
      </p:sp>
      <p:sp>
        <p:nvSpPr>
          <p:cNvPr id="7" name="Text 4"/>
          <p:cNvSpPr/>
          <p:nvPr/>
        </p:nvSpPr>
        <p:spPr>
          <a:xfrm>
            <a:off x="873252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5-yr total  ·  EMI/month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732520" y="2788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0" y="2788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₹10.0L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07040" y="2788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₹27.6k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32520" y="33558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0" y="33558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₹10.9L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0" y="33558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₹25.5k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732520" y="392277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0" y="392277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₹11.0L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07040" y="392277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₹32.9k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732520" y="448970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0" y="448970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₹11.6L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607040" y="448970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₹30.1k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73252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= on-road, 5-yr, ~9% (EV 8.55% green loan)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562356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2E9E6B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crossover: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12,000 km/yr, CNG wins and EV ≈ petrol — the EV's higher price offsets its cheap running. Above ~25,000 km/yr with home charging, the EV pulls clearly ahead.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Nexon on-road prices (CarWale/CarDekho, Jul 2026); Grand Vitara hybrid a segment up (~₹19.5L, ₹40.5k EMI). Loan rates SBI/HDFC 2026. EV resale ~40% is the key uncertainty.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PAY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stack — upfront, fixed costs &amp; EMI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Nexon, on-road &amp; financed. Beyond fuel, a car costs you an EMI, insurance, road tax and upkeep.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4251D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97480" y="2148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On-road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0" y="2148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/ mo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32120" y="21488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yr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78040" y="2148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 / yr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49640" y="21488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/ yr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875520" y="2148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/ yr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53512"/>
            <a:ext cx="100584" cy="365760"/>
          </a:xfrm>
          <a:prstGeom prst="roundRect">
            <a:avLst>
              <a:gd name="adj" fmla="val 18182"/>
            </a:avLst>
          </a:prstGeom>
          <a:solidFill>
            <a:srgbClr val="D2892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072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97480" y="28072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₹12.3L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14800" y="28072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₹25.5k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532120" y="280720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78040" y="280720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49640" y="28072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75520" y="28072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₹4.21L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447288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593592"/>
            <a:ext cx="100584" cy="365760"/>
          </a:xfrm>
          <a:prstGeom prst="roundRect">
            <a:avLst>
              <a:gd name="adj" fmla="val 18182"/>
            </a:avLst>
          </a:prstGeom>
          <a:solidFill>
            <a:srgbClr val="2E8FA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447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697480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₹13.3L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114800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₹27.6k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532120" y="344728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78040" y="344728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₹14k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49640" y="344728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₹38k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875520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₹4.12L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4087368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233672"/>
            <a:ext cx="100584" cy="365760"/>
          </a:xfrm>
          <a:prstGeom prst="roundRect">
            <a:avLst>
              <a:gd name="adj" fmla="val 18182"/>
            </a:avLst>
          </a:prstGeom>
          <a:solidFill>
            <a:srgbClr val="5D6E78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0873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Diesel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2697480" y="40873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₹14.5L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114800" y="40873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₹30.1k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532120" y="40873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₹32k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178040" y="408736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₹18k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549640" y="408736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₹54k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875520" y="40873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D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₹4.65L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8640" y="4727448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4873752"/>
            <a:ext cx="100584" cy="365760"/>
          </a:xfrm>
          <a:prstGeom prst="roundRect">
            <a:avLst>
              <a:gd name="adj" fmla="val 18182"/>
            </a:avLst>
          </a:prstGeom>
          <a:solidFill>
            <a:srgbClr val="2E9E6B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47274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(home)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2697480" y="47274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₹16.0L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114800" y="47274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₹32.9k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532120" y="472744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₹38k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7178040" y="47274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₹6k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549640" y="472744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₹14k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875520" y="47274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₹4.53L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48640" y="56692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2E9E6B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56692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Financed,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EV's cheap fuel doesn't cover its bigger EMI at 12,000 km/yr — CNG is cheapest all-in. EVs pay more insurance, but many states waive road tax (~₹1L off the on-road).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All-in/yr = EMI×12 + insurance + maintenance + fuel (excl. depreciation). EV on public charging ≈ ₹4.79L/yr. Prices/rates 2026.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is right for you?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58568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charging + city driving  →  </a:t>
            </a:r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 — nothing beats ₹1.20/km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1272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8FA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09981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km / highways, no home plug  →  </a:t>
            </a:r>
            <a:pPr indent="0" marL="0">
              <a:buNone/>
            </a:pPr>
            <a:r>
              <a:rPr lang="en-US" sz="18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Diesel or CNG — cheap to run, quick to fill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9684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A6BB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941064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efficiency with zero hassle  →  </a:t>
            </a:r>
            <a:pPr indent="0" marL="0">
              <a:buNone/>
            </a:pPr>
            <a:r>
              <a:rPr lang="en-US" sz="1800" b="1" dirty="0">
                <a:solidFill>
                  <a:srgbClr val="7A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hybrid — ~24 kmpl, no charging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809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2892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78231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usage, lowest upfront cost  →  </a:t>
            </a:r>
            <a:pPr indent="0" marL="0">
              <a:buNone/>
            </a:pPr>
            <a:r>
              <a:rPr lang="en-US" sz="18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 — cheap to buy, dear to run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5715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 wins on running cost only with home charging. On public fast chargers it's a CNG, not a giveaway — plan around where you'll actually plug in.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2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THE POLICY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69164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fuel to chemicals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Crude in, product out — and the lever India hasn't pulled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freed petrol-range feedstock can make the very petrochemicals India imports in dollars.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2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Production-Linked Incentive is the missing piece.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REFINING BIND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Crude in, product out — the margin is thinning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55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−$149.5 bn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mineral-fuel trade (54% of deficit)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$5–6/bbl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6557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margin, down from $10–12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55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5449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Russian-crude refiners' EU exports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33688" y="2176272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+$1.5–2/bbl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43416" y="2871216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petrochemical integration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14251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pivot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 ban on Russian-derived fuel and narrowing crude discounts have erased the easy refining margin.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value is moving down the chain into chemicals —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crude-to-chemicals complex earns $60–80/bbl versus $15–25 for fuels.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DGCIS/Tradestat · Argus/Platts (GRM) · Digital Refining (integration economics).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~$15 bn of petrochemicals India could make at home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imports by value (DCPC FY24-25), each from petrol-range feedstock — with its 8-digit HSN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494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PTA + paraxylene → PET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615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2917 36 · 2902 43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77640" y="241401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2E8FA0"/>
          </a:solidFill>
          <a:ln/>
        </p:spPr>
      </p:sp>
      <p:sp>
        <p:nvSpPr>
          <p:cNvPr id="9" name="Text 7"/>
          <p:cNvSpPr/>
          <p:nvPr/>
        </p:nvSpPr>
        <p:spPr>
          <a:xfrm>
            <a:off x="3977640" y="24140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₹21,466 cr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2494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Polypropylene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55080" y="2615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3902 10 00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0" y="241401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2E8FA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24140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₹15,627 cr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095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High-density polyethylene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3575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3901 20 00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77640" y="337413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2E8FA0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33741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₹12,187 cr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154680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2095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Styrene monomer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55080" y="3575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2902 50 00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0" y="337413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C4553E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33741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₹11,105 cr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1696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PVC + VCM + EDC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1520" y="4535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3904 · 2903 21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77640" y="433425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D2892C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3342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₹9,224 cr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114800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1696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Polycarbonate (BPA)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355080" y="4535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3907 40 00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01200" y="433425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C4553E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43342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₹5,545 cr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= import dependence (red ~100% → teal lower). Ethanol-freed feedstock alone could substitute 35–53%. Source: DCPC 2025 · ICIS.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PLI sectors, ₹1.97 lakh cr — none for chemicals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55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 bn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imports / yr (DCPC)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~$15 bn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6557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petroleum-feedstock substitutable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→ 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5449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sectors, none for chemicals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33688" y="2176272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$7–8 bn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43416" y="2871216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 a chemicals PLI could save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14251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pharma, autos, solar and steel all have a Production-Linked Incentive — chemicals do not.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4–6% PLI on the HSN-coded list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(PTA, polypropylene, HDPE, styrene, polycarbonate, MDI) substitutes imports permanently — the instrument that made India a mobile-phone exporter.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DCPC Statistics-at-a-Glance 2025 · PIB / FM statement (PLI under consideration) · DGCIS.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coherent import-substitution loop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  </a:t>
            </a:r>
            <a:pPr indent="0" marL="0"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petrol-range volume — paid in rupees, to Indian farmers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566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8FA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71600" y="3520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Freed naphtha  </a:t>
            </a:r>
            <a:pPr indent="0" marL="0"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cracks into the very petrochemicals India imports in dollars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4617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2892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71600" y="45720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chemicals PLI  </a:t>
            </a:r>
            <a:pPr indent="0" marL="0"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that domestic production bankable — the missing lever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5623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Rupee feedstock displacing dollar imports — energy security, a narrower current-account gap, and rural income, in one loop.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2026-07-25T00:35:29Z</dcterms:created>
  <dcterms:modified xsi:type="dcterms:W3CDTF">2026-07-25T00:35:29Z</dcterms:modified>
</cp:coreProperties>
</file>