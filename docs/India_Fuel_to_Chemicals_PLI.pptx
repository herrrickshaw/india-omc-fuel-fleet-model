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US$ bn</c:v>
                </c:pt>
              </c:strCache>
            </c:strRef>
          </c:tx>
          <c:spPr>
            <a:solidFill>
              <a:srgbClr val="0F8B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8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Crude oil</c:v>
                  </c:pt>
                  <c:pt idx="1">
                    <c:v>Electronics</c:v>
                  </c:pt>
                  <c:pt idx="2">
                    <c:v>Gold</c:v>
                  </c:pt>
                  <c:pt idx="3">
                    <c:v>Chemicals</c:v>
                  </c:pt>
                  <c:pt idx="4">
                    <c:v>Coal</c:v>
                  </c:pt>
                  <c:pt idx="5">
                    <c:v>LNG+LPG</c:v>
                  </c:pt>
                  <c:pt idx="6">
                    <c:v>Edible oil</c:v>
                  </c:pt>
                  <c:pt idx="7">
                    <c:v>Fertiliser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137</c:v>
                </c:pt>
                <c:pt idx="1">
                  <c:v>90</c:v>
                </c:pt>
                <c:pt idx="2">
                  <c:v>60</c:v>
                </c:pt>
                <c:pt idx="3">
                  <c:v>47</c:v>
                </c:pt>
                <c:pt idx="4">
                  <c:v>32</c:v>
                </c:pt>
                <c:pt idx="5">
                  <c:v>30</c:v>
                </c:pt>
                <c:pt idx="6">
                  <c:v>17</c:v>
                </c:pt>
                <c:pt idx="7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E28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E28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6A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ENERGY &amp; CHEMICALS · POLICY 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60020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fuel to chemicals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85800" y="2697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F8B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rupee-vs-dollar import-substitution case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3611880"/>
            <a:ext cx="8778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frees petrol → the freed naphtha cracks into the very chemicals India imports → a PLI makes that domestic production bankable.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6A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 feedstock, displacing dollar imports.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PPAC Ready Reckoner · DGCIS/Tradestat · FADA · Vahan · ICIS · PIB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dollars go — ~$274 bn of essential imports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112264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$718 bn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8072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imports (CY2024)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19659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18688" y="2112264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6A1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$274 bn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3337560" y="28072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imports / yr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0" y="19659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4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70448" y="2112264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F8B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$199 bn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5989320" y="28072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(crude+coal+gas)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03920" y="19659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4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22208" y="2112264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C455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~54%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8641080" y="28072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trade deficit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mineral fuels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3703320"/>
          <a:ext cx="75895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8412480" y="3703320"/>
            <a:ext cx="3200400" cy="2606040"/>
          </a:xfrm>
          <a:prstGeom prst="roundRect">
            <a:avLst>
              <a:gd name="adj" fmla="val 2807"/>
            </a:avLst>
          </a:prstGeom>
          <a:solidFill>
            <a:srgbClr val="0E2833"/>
          </a:solidFill>
          <a:ln/>
        </p:spPr>
      </p:sp>
      <p:sp>
        <p:nvSpPr>
          <p:cNvPr id="18" name="Text 15"/>
          <p:cNvSpPr/>
          <p:nvPr/>
        </p:nvSpPr>
        <p:spPr>
          <a:xfrm>
            <a:off x="864108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essential has a substitution lever —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41080" y="452628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D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ethanol/EV for fuel · oilseed mission for edible oil · domestic fertiliser.
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D6A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 is the only large one with no PLI.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DGCIS/Tradestat (HS-27, CY2024) · PPAC RR (crude, FY25) · trade reporting.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Ethanol frees petrol — and it's paid for in rupees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157984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F8B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 → 11.5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852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MMT petrol freed (E20 → E30)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2157984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6A1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– 53%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3474720" y="2852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substitutable polymer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imports, if cracked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4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2157984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₹65k–97k cr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263640" y="2852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 cost (domestic —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farmers, distilleries)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4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33688" y="2157984"/>
            <a:ext cx="2660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 – 9 bn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9052560" y="28529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forex freed (crude/petchem)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160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E9E6B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Rupee in — stays home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47091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cane / grain feedstock, domestic distilleries, rural labour.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E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~2.5–3× local multiplier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cost recirculates as farm income, not a payment that leaves the country.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39319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0E283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46520" y="4160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6A143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A1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Dollars out — saved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92240" y="47091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8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freed petrol either cuts crude imports, is exported, or is cracked into petchem — each worth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$5–9 bn of forex.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Premium over fuel value is ~₹14/L — but in rupees, not dollars.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per PPAC RR Table 9.2/9.3 (petrol 1 MT = 1.411 KL = 8.88 bbl). Same barrels, one lens — not additive.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REFINING SQUEEZE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Margins have normalised — petrochemicals are the next lever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C4553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GRM $10-12 → $5-6/bbl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refiners' margins fell as the discounted-Russian-crude edge faded.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51960" y="210312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3774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6A143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8346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ban + sanctions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37033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from Russian crude barred from the EU (Jan 2026); flows from 11 refineries fell ~69%.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55280" y="210312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23774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E9E6B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28346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Petchem integration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0" y="37033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+$1.5–2/bbl marginal GRM; full crude-to-chemicals earns $60–80/bbl vs $15–25 for fuels.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buNone/>
            </a:pPr>
            <a:r>
              <a:rPr lang="en-US" sz="14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fuel margin is thin and geopolitically levered; the durable value is moving down the chain into chemicals.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Argus/Platts (cracks, GRM) · Vortexa/KSE (EU ban) · Digital Refining (integration economics).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petrochemical import tree — ~$15 bn substitutable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from the same petrol-range streams (naphtha → olefins, reformate → aromatics). Each with its 8-digit HSN code.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Styrene monomer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642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2902 50 00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77640" y="2423160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C4553E"/>
          </a:solidFill>
          <a:ln/>
        </p:spPr>
      </p:sp>
      <p:sp>
        <p:nvSpPr>
          <p:cNvPr id="9" name="Text 7"/>
          <p:cNvSpPr/>
          <p:nvPr/>
        </p:nvSpPr>
        <p:spPr>
          <a:xfrm>
            <a:off x="3977640" y="24231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24028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Acrylonitrile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55080" y="2642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2926 10 00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0" y="2423160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C4553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24231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8152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Polycarbonate (BPA)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3483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3907 40 00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77640" y="326440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C4553E"/>
          </a:solidFill>
          <a:ln/>
        </p:spPr>
      </p:sp>
      <p:sp>
        <p:nvSpPr>
          <p:cNvPr id="19" name="Text 17"/>
          <p:cNvSpPr/>
          <p:nvPr/>
        </p:nvSpPr>
        <p:spPr>
          <a:xfrm>
            <a:off x="3977640" y="32644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~90-100%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08152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MDI / TDI (isocyanates)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355080" y="3483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2929 10 20 / 10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01200" y="326440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D6A143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32644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~85-90%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92277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968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PVC resin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31520" y="4325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3904 10 10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977640" y="4105656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D6A143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410565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~55-75%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392277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968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Polyethylene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355080" y="4325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3901 10/20/40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01200" y="4105656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0F8B99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0" y="410565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~25-40%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764024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8097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Polypropylene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31520" y="5166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3902 10 00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977640" y="4946904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0F8B99"/>
          </a:solidFill>
          <a:ln/>
        </p:spPr>
      </p:sp>
      <p:sp>
        <p:nvSpPr>
          <p:cNvPr id="39" name="Text 37"/>
          <p:cNvSpPr/>
          <p:nvPr/>
        </p:nvSpPr>
        <p:spPr>
          <a:xfrm>
            <a:off x="3977640" y="494690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~20-25%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72200" y="4764024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48097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 · epoxy · nylon · PTA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6355080" y="5166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2905/3907/3908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601200" y="4946904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44" name="Text 42"/>
          <p:cNvSpPr/>
          <p:nvPr/>
        </p:nvSpPr>
        <p:spPr>
          <a:xfrm>
            <a:off x="9601200" y="494690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partial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dependence, colour-coded. Ethanol-freed feedstock alone could substitute 35–53% of these. Source: ICIS flowchart · MoC · DGCIS.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PLI sectors, ₹1.97 lakh cr — chemicals is not one of them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157984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sectors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8529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PLI (₹1.97 lakh cr)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20116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47288" y="2157984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C455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$74 bn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3566160" y="28529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chemical import bill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4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27648" y="2157984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6A1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~$15 bn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446520" y="28529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petroleum-linked, substitutable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89720" y="201168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4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08008" y="2157984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C455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9326880" y="28529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 for chemicals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0E283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A1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template already works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electronics PLI turned India from a mobile-phone importer into a net exporter in ~4 years.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8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instrument, pointed at the HSN-coded chemical import list — polycarbonate, MDI/TDI, styrene, acrylonitrile — is the obvious next move. Pharma, autos, solar, steel and textiles are all covered; the 4th-largest essential dollar drain is not.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PIB (PLI programme) · MoC Statistics-at-a-Glance · DGCIS.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Production-Linked Incentive for chemicals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E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record: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Nirmala Sitharaman — the government “will consider a PLI for chemicals &amp; petrochemicals”; the Ministry of Chemicals is formulating one (import-substitution of intermediates).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88900" dist="25400" dir="5400000">
              <a:srgbClr val="8A9A94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4597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B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HSN-coded, high-dependence list: PVC, PE, PP, styrene, polycarbonate, MDI/TDI, ACN, MEG, epoxy, nylon.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3317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88900" dist="25400" dir="5400000">
              <a:srgbClr val="8A9A94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4597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B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2788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~85-100%-imported cluster first — engineering plastics &amp; polyurethanes (deepest gap, highest value).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88900" dist="25400" dir="5400000">
              <a:srgbClr val="8A9A94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6027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B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Incentive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931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4–6% on incremental production, tapering as capacity matures; anchored in PCPIRs.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4747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BE4E0"/>
            </a:solidFill>
            <a:prstDash val="solid"/>
          </a:ln>
          <a:effectLst>
            <a:outerShdw sx="100000" sy="100000" kx="0" ky="0" algn="bl" rotWithShape="0" blurRad="88900" dist="25400" dir="5400000">
              <a:srgbClr val="8A9A94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36027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B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Feedstock link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931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to crude-to-chemicals crackers and the ethanol-freed petrol pool — rupee feedstock, dollar imports out.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2E9E6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749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prize: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substituting half the ~$15 bn petroleum-linked chemical imports saves ~$7–8 bn/yr of forex, permanently — a 4-6% incentive costs a fraction of the forex it protects.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Indian Chemical News / Deccan Herald (FM statement) · PIB (policy redraft) · Invest India.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6A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THROUGH-LINE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coherent import-substitution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514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Ethanol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8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petrol-range volume — paid in rupees, to Indian farmers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3566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F8B9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5204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8B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Freed naphtha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8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cracks into the very petrochemicals India imports in dollars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85800" y="46177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6A14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5720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D6A1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chemicals PLI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8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that domestic production bankable — the missing lever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" y="5623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D6A1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Rupee feedstock displacing dollar imports — energy security, a narrower current-account gap, and rural income, in one policy loop.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2026-07-24T15:08:13Z</dcterms:created>
  <dcterms:modified xsi:type="dcterms:W3CDTF">2026-07-24T15:08:13Z</dcterms:modified>
</cp:coreProperties>
</file>