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US$ bn</c:v>
                </c:pt>
              </c:strCache>
            </c:strRef>
          </c:tx>
          <c:spPr>
            <a:solidFill>
              <a:srgbClr val="0F8B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8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Crude oil</c:v>
                  </c:pt>
                  <c:pt idx="1">
                    <c:v>Electronics</c:v>
                  </c:pt>
                  <c:pt idx="2">
                    <c:v>Gold</c:v>
                  </c:pt>
                  <c:pt idx="3">
                    <c:v>Chemicals</c:v>
                  </c:pt>
                  <c:pt idx="4">
                    <c:v>Coal</c:v>
                  </c:pt>
                  <c:pt idx="5">
                    <c:v>LNG+LPG</c:v>
                  </c:pt>
                  <c:pt idx="6">
                    <c:v>Edible oil</c:v>
                  </c:pt>
                  <c:pt idx="7">
                    <c:v>Fertiliser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137</c:v>
                </c:pt>
                <c:pt idx="1">
                  <c:v>90</c:v>
                </c:pt>
                <c:pt idx="2">
                  <c:v>60</c:v>
                </c:pt>
                <c:pt idx="3">
                  <c:v>47</c:v>
                </c:pt>
                <c:pt idx="4">
                  <c:v>32</c:v>
                </c:pt>
                <c:pt idx="5">
                  <c:v>30</c:v>
                </c:pt>
                <c:pt idx="6">
                  <c:v>17</c:v>
                </c:pt>
                <c:pt idx="7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8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28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6A1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· ENERGY &amp; CHEMICALS · POLICY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0020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fuel to chemicals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85800" y="26974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0F8B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India's rupee-vs-dollar import-substitution case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3611880"/>
            <a:ext cx="8778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8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frees petrol → the freed naphtha cracks into the very chemicals India imports → a PLI makes that domestic production bankable.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D6A1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Rupee feedstock, displacing dollar imports.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612648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PPAC Ready Reckoner · DGCIS/Tradestat · FADA · Vahan · ICIS · PIB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F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dollars go — ~$274 bn of essential imports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112264"/>
            <a:ext cx="2478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$718 bn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85800" y="280720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imports (CY2024)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00400" y="196596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18688" y="2112264"/>
            <a:ext cx="2478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A1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$274 bn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3337560" y="280720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imports / yr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0" y="196596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870448" y="2112264"/>
            <a:ext cx="2478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F8B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$199 bn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5989320" y="280720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(crude+coal+gas)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503920" y="196596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22208" y="2112264"/>
            <a:ext cx="2478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C455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~54%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641080" y="280720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India's trade deficit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mineral fuels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703320"/>
          <a:ext cx="75895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8412480" y="3703320"/>
            <a:ext cx="3200400" cy="2606040"/>
          </a:xfrm>
          <a:prstGeom prst="roundRect">
            <a:avLst>
              <a:gd name="adj" fmla="val 2807"/>
            </a:avLst>
          </a:prstGeom>
          <a:solidFill>
            <a:srgbClr val="0E2833"/>
          </a:solidFill>
          <a:ln/>
        </p:spPr>
      </p:sp>
      <p:sp>
        <p:nvSpPr>
          <p:cNvPr id="18" name="Text 15"/>
          <p:cNvSpPr/>
          <p:nvPr/>
        </p:nvSpPr>
        <p:spPr>
          <a:xfrm>
            <a:off x="864108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essential has a substitution lever —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641080" y="4526280"/>
            <a:ext cx="2788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D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ethanol/EV for fuel · oilseed mission for edible oil · domestic fertiliser.
</a:t>
            </a:r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6A1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Chemicals is the only large one with no PLI.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DGCIS/Tradestat (HS-27, CY2024) · PPAC RR (crude, FY25) · trade reporting.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F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 frees petrol — and it's paid for in rupees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157984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F8B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7.7 → 11.5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858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MMT petrol freed (E20 → E30)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37560" y="20116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55848" y="2157984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A1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– 53%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347472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substitutable polymer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imports, if cracked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44768" y="2157984"/>
            <a:ext cx="2615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₹65k–97k cr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626364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rupee cost (domestic —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farmers, distilleries)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15400" y="20116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33688" y="2157984"/>
            <a:ext cx="2660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 – 9 bn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9052560" y="285292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forex freed (crude/petchem)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1605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4160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Rupee in — stays home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2960" y="470916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cane / grain feedstock, domestic distilleries, rural labour.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E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~2.5–3× local multiplier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cost recirculates as farm income, not a payment that leaves the country.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393192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0E2833"/>
          </a:solidFill>
          <a:ln/>
        </p:spPr>
      </p:sp>
      <p:sp>
        <p:nvSpPr>
          <p:cNvPr id="22" name="Shape 20"/>
          <p:cNvSpPr/>
          <p:nvPr/>
        </p:nvSpPr>
        <p:spPr>
          <a:xfrm>
            <a:off x="6446520" y="41605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D6A143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08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03720" y="4160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6A1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Dollars out — saved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92240" y="470916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8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freed petrol either cuts crude imports, is exported, or is cracked into petchem — each worth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$5–9 bn of forex.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DB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Premium over fuel value is ~₹14/L — but in rupees, not dollars.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 per PPAC RR Table 9.2/9.3 (petrol 1 MT = 1.411 KL = 8.88 bbl). Same barrels, one lens — not additive.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F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REFINING SQUEEZE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Margins have normalised — petrochemicals are the next lever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77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C4553E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8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GRM $10-12 → $5-6/bbl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703320"/>
            <a:ext cx="2880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refiners' margins fell as the discounted-Russian-crude edge faded.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51960" y="210312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2377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D6A143"/>
          </a:solidFill>
          <a:ln/>
        </p:spPr>
      </p:sp>
      <p:sp>
        <p:nvSpPr>
          <p:cNvPr id="11" name="Text 9"/>
          <p:cNvSpPr/>
          <p:nvPr/>
        </p:nvSpPr>
        <p:spPr>
          <a:xfrm>
            <a:off x="4544568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26280" y="28346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8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ban + sanctions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26280" y="3703320"/>
            <a:ext cx="2880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from Russian crude barred from the EU (Jan 2026); flows from 11 refineries fell ~69%.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955280" y="210312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23774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E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47888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0" y="283464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8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Petchem integration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0" y="3703320"/>
            <a:ext cx="2880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+$1.5–2/bbl marginal GRM; full crude-to-chemicals earns $60–80/bbl vs $15–25 for fuels.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buNone/>
            </a:pPr>
            <a:r>
              <a:rPr lang="en-US" sz="14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fuel margin is thin and geopolitically levered; the durable value is moving down the chain into chemicals.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Argus/Platts (cracks, GRM) · Vortexa/KSE (EU ban) · Digital Refining (integration economics).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F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petrochemical import tree — ~$15 bn substitutable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imports by value (DCPC FY2024-25). Made from the same petrol-range streams; colour = import dependence (red ~100% → teal lower).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PTA + paraxylene → PET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31520" y="2642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2917 36 · 2902 43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977640" y="2423160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0F8B99"/>
          </a:solidFill>
          <a:ln/>
        </p:spPr>
      </p:sp>
      <p:sp>
        <p:nvSpPr>
          <p:cNvPr id="9" name="Text 7"/>
          <p:cNvSpPr/>
          <p:nvPr/>
        </p:nvSpPr>
        <p:spPr>
          <a:xfrm>
            <a:off x="3977640" y="24231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₹21,466 cr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Polypropylene (inc. co-poly)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355080" y="26426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3902 10 00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601200" y="2423160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0F8B99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24231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₹15,627 cr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08152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127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High-density polyethylene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1520" y="34838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3901 20 00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77640" y="326440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0F8B99"/>
          </a:solidFill>
          <a:ln/>
        </p:spPr>
      </p:sp>
      <p:sp>
        <p:nvSpPr>
          <p:cNvPr id="19" name="Text 17"/>
          <p:cNvSpPr/>
          <p:nvPr/>
        </p:nvSpPr>
        <p:spPr>
          <a:xfrm>
            <a:off x="3977640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₹12,187 cr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08152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127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Styrene monomer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355080" y="34838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2902 50 00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601200" y="3264408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C4553E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0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₹11,105 cr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92277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9684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PVC + VCM + EDC chain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1520" y="4325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3904 · 2903 21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977640" y="410565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D6A143"/>
          </a:solidFill>
          <a:ln/>
        </p:spPr>
      </p:sp>
      <p:sp>
        <p:nvSpPr>
          <p:cNvPr id="29" name="Text 27"/>
          <p:cNvSpPr/>
          <p:nvPr/>
        </p:nvSpPr>
        <p:spPr>
          <a:xfrm>
            <a:off x="3977640" y="410565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₹9,224 cr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392277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39684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Butadiene rubber (SBR+PBR)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355080" y="4325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4002 20 00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01200" y="410565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D6A143"/>
          </a:solidFill>
          <a:ln/>
        </p:spPr>
      </p:sp>
      <p:sp>
        <p:nvSpPr>
          <p:cNvPr id="34" name="Text 32"/>
          <p:cNvSpPr/>
          <p:nvPr/>
        </p:nvSpPr>
        <p:spPr>
          <a:xfrm>
            <a:off x="9601200" y="410565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₹6,077 cr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764024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8097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Polycarbonate (BPA)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31520" y="5166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3907 40 00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977640" y="4946904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C4553E"/>
          </a:solidFill>
          <a:ln/>
        </p:spPr>
      </p:sp>
      <p:sp>
        <p:nvSpPr>
          <p:cNvPr id="39" name="Text 37"/>
          <p:cNvSpPr/>
          <p:nvPr/>
        </p:nvSpPr>
        <p:spPr>
          <a:xfrm>
            <a:off x="3977640" y="494690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₹5,545 cr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172200" y="4764024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55080" y="48097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MEG · MDI · ACN · phenol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6355080" y="5166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2905 · 2929 · 2926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9601200" y="4946904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D6A143"/>
          </a:solidFill>
          <a:ln/>
        </p:spPr>
      </p:sp>
      <p:sp>
        <p:nvSpPr>
          <p:cNvPr id="44" name="Text 42"/>
          <p:cNvSpPr/>
          <p:nvPr/>
        </p:nvSpPr>
        <p:spPr>
          <a:xfrm>
            <a:off x="9601200" y="494690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₹5–15k cr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= DCPC Statistics-at-a-Glance 2025 import value (FY24-25). Ethanol-freed feedstock alone could substitute 35–53%. Chain: ICIS flowchart.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F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PLI sectors, ₹1.97 lakh cr — chemicals is not one of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157984"/>
            <a:ext cx="2706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sectors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85800" y="28529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PLI (₹1.97 lakh cr)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201168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47288" y="2157984"/>
            <a:ext cx="2706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C455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 bn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3566160" y="28529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import bill (DCPC)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01168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7648" y="2157984"/>
            <a:ext cx="2706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A1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~$15 bn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6446520" y="28529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petroleum-linked, substitutable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89720" y="201168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8A9A94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08008" y="2157984"/>
            <a:ext cx="2386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C455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9326880" y="285292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PLI for chemicals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0E2833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A1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works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electronics PLI turned India from a mobile-phone importer into a net exporter in ~4 years.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8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instrument, pointed at the HSN-coded chemical import list — polycarbonate, MDI/TDI, styrene, acrylonitrile — is the obvious next move. Pharma, autos, solar, steel and textiles are all covered; the 4th-largest essential dollar drain is not.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PIB (PLI programme) · DCPC Statistics-at-a-Glance 2025 (chem import ₹6.00 lakh cr; net deficit ~$26 bn) · DGCIS.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0F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Production-Linked Incentive for chemicals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E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record: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 Nirmala Sitharaman — the government “will consider a PLI for chemicals &amp; petrochemicals”; the Ministry of Chemicals is formulating one (import-substitution of intermediates).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4597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8B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HSN-coded, high-dependence list: PVC, PE, PP, styrene, polycarbonate, MDI/TDI, ACN, MEG, epoxy, nylon.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33172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4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24597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8B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~85-100%-imported cluster first — engineering plastics &amp; polyurethanes (deepest gap, highest value).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4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6027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8B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Incentive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3931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4–6% on incremental production, tapering as capacity matures; anchored in PCPIRs.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347472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BE4E0"/>
            </a:solidFill>
            <a:prstDash val="solid"/>
          </a:ln>
          <a:effectLst>
            <a:outerShdw sx="100000" sy="100000" kx="0" ky="0" algn="bl" rotWithShape="0" blurRad="88900" dist="25400" dir="5400000">
              <a:srgbClr val="8A9A94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0" y="36027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8B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Feedstock link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0" y="3931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to crude-to-chemicals crackers and the ethanol-freed petrol pool — rupee feedstock, dollar imports out.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07492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prize: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AF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substituting half the ~$15 bn petroleum-linked chemical imports saves ~$7–8 bn/yr of forex, permanently — a 4-6% incentive costs a fraction of the forex it protects.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Indian Chemical News / Deccan Herald (FM statement) · PIB (policy redraft) · Invest India.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6A1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THROUGH-LINE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coherent import-substitution stack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514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E9E6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  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D8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 petrol-range volume — paid in rupees, to Indian farmers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5661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F8B99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352044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F8B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Freed naphtha  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D8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cracks into the very petrochemicals India imports in dollars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4617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D6A143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8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457200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D6A1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chemicals PLI  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D8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that domestic production bankable — the missing lever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85800" y="562356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i="1" dirty="0">
                <a:solidFill>
                  <a:srgbClr val="D6A1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Rupee feedstock displacing dollar imports — energy security, a narrower current-account gap, and rural income, in one policy loop.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2026-07-24T15:26:55Z</dcterms:created>
  <dcterms:modified xsi:type="dcterms:W3CDTF">2026-07-24T15:26:55Z</dcterms:modified>
</cp:coreProperties>
</file>