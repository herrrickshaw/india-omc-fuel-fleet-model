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₹/km</c:v>
                </c:pt>
              </c:strCache>
            </c:strRef>
          </c:tx>
          <c:spPr>
            <a:solidFill>
              <a:srgbClr val="D2892C"/>
            </a:solidFill>
            <a:effectLst/>
          </c:spPr>
          <c:invertIfNegative val="0"/>
          <c:dLbls>
            <c:numFmt formatCode="₹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527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289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9E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D6E7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A6BB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8FA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9E6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Petrol (E20)</c:v>
                  </c:pt>
                  <c:pt idx="1">
                    <c:v>EV — public fast</c:v>
                  </c:pt>
                  <c:pt idx="2">
                    <c:v>Diesel</c:v>
                  </c:pt>
                  <c:pt idx="3">
                    <c:v>Hybrid</c:v>
                  </c:pt>
                  <c:pt idx="4">
                    <c:v>CNG</c:v>
                  </c:pt>
                  <c:pt idx="5">
                    <c:v>EV — home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6.25</c:v>
                </c:pt>
                <c:pt idx="1">
                  <c:v>3.3</c:v>
                </c:pt>
                <c:pt idx="2">
                  <c:v>4.5</c:v>
                </c:pt>
                <c:pt idx="3">
                  <c:v>4.17</c:v>
                </c:pt>
                <c:pt idx="4">
                  <c:v>3.15</c:v>
                </c:pt>
                <c:pt idx="5">
                  <c:v>1.2</c:v>
                </c:pt>
              </c:numCache>
            </c:numRef>
          </c:val>
        </c:ser>
        <c:dLbls>
          <c:numFmt formatCode="₹0.00" sourceLinked="0"/>
          <c:txPr>
            <a:bodyPr/>
            <a:lstStyle/>
            <a:p>
              <a:pPr>
                <a:defRPr b="1" i="0" strike="noStrike" sz="1200" u="none">
                  <a:solidFill>
                    <a:srgbClr val="1527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27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Depreciation (on-road − resale)</c:v>
                </c:pt>
              </c:strCache>
            </c:strRef>
          </c:tx>
          <c:spPr>
            <a:solidFill>
              <a:srgbClr val="5D6E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Petrol</c:v>
                  </c:pt>
                  <c:pt idx="1">
                    <c:v>CNG</c:v>
                  </c:pt>
                  <c:pt idx="2">
                    <c:v>EV</c:v>
                  </c:pt>
                  <c:pt idx="3">
                    <c:v>Diesel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6.5</c:v>
                </c:pt>
                <c:pt idx="1">
                  <c:v>7.4</c:v>
                </c:pt>
                <c:pt idx="2">
                  <c:v>9.6</c:v>
                </c:pt>
                <c:pt idx="3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Fuel + maintenance (5 yr)</c:v>
                </c:pt>
              </c:strCache>
            </c:strRef>
          </c:tx>
          <c:spPr>
            <a:solidFill>
              <a:srgbClr val="2E9E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Petrol</c:v>
                  </c:pt>
                  <c:pt idx="1">
                    <c:v>CNG</c:v>
                  </c:pt>
                  <c:pt idx="2">
                    <c:v>EV</c:v>
                  </c:pt>
                  <c:pt idx="3">
                    <c:v>Diesel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4.35</c:v>
                </c:pt>
                <c:pt idx="1">
                  <c:v>2.6</c:v>
                </c:pt>
                <c:pt idx="2">
                  <c:v>1.4</c:v>
                </c:pt>
                <c:pt idx="3">
                  <c:v>3.6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2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527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5271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· 2026 · BUYER'S GUIDE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164592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 &amp; vehicle choices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85800" y="2743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2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Petrol · Diesel · CNG · Hybrid · Electric — what each really costs to run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3657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version — with real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on-road public EV charging rates (₹18–26/kWh)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just cheap home charging. Metro prices, real-world efficiency, pros and cons.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61264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July 2026 (metro avg) · efficiency SIAM-based · charging tariffs advertised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RUNNING-COST LADDER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52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costs to drive 1 km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basis, ₹ per km at the wheel. EV swings hugely with where you charge.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103120"/>
          <a:ext cx="7863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49640" y="2103120"/>
            <a:ext cx="3108960" cy="4023360"/>
          </a:xfrm>
          <a:prstGeom prst="roundRect">
            <a:avLst>
              <a:gd name="adj" fmla="val 2647"/>
            </a:avLst>
          </a:prstGeom>
          <a:solidFill>
            <a:srgbClr val="15271F"/>
          </a:solidFill>
          <a:ln/>
        </p:spPr>
      </p:sp>
      <p:sp>
        <p:nvSpPr>
          <p:cNvPr id="7" name="Text 4"/>
          <p:cNvSpPr/>
          <p:nvPr/>
        </p:nvSpPr>
        <p:spPr>
          <a:xfrm>
            <a:off x="877824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catch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778240" y="2880360"/>
            <a:ext cx="2651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home charging the EV is unbeatable — ₹1.20/km.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on a real public fast charger it's ₹3.30/km — about the same as CNG, and dearer than you'd expect.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CNG is the cheapest fuel you can just pump.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Prices: petrol ₹100/L · diesel ₹90/L · CNG ₹82/kg · home ₹8/kWh · public DC ₹22/kWh. Efficiency real-world (SIAM-based).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52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Price, efficiency &amp; cost per km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603504"/>
          </a:xfrm>
          <a:prstGeom prst="roundRect">
            <a:avLst>
              <a:gd name="adj" fmla="val 7576"/>
            </a:avLst>
          </a:prstGeom>
          <a:solidFill>
            <a:srgbClr val="15271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0" y="196596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price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223760" y="196596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efficiency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875520" y="1965960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km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110642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98064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D2892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67919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Petrol (E20)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67919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 / litre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223760" y="267919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kmpl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875520" y="267919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28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₹6.25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319272"/>
            <a:ext cx="110642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438144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5D6E78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31927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Diesel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331927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₹90 / litre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223760" y="331927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kmpl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875520" y="331927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D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₹4.50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3959352"/>
            <a:ext cx="110642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078224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7A6BB0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95935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(petrol)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0" y="395935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 / litre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223760" y="395935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kmpl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875520" y="395935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A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₹4.17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4599432"/>
            <a:ext cx="110642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718304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2E8FA0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59943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72000" y="459943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₹82 / kg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223760" y="459943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km/kg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875520" y="459943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₹3.15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8640" y="5239512"/>
            <a:ext cx="110642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5358384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2E9E6B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523951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— home charge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572000" y="523951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 / kWh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7223760" y="523951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 km/kWh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9875520" y="523951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₹1.20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48640" y="5879592"/>
            <a:ext cx="110642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5998464"/>
            <a:ext cx="109728" cy="365760"/>
          </a:xfrm>
          <a:prstGeom prst="roundRect">
            <a:avLst>
              <a:gd name="adj" fmla="val 16667"/>
            </a:avLst>
          </a:prstGeom>
          <a:solidFill>
            <a:srgbClr val="2E9E6B"/>
          </a:solidFill>
          <a:ln/>
        </p:spPr>
      </p:sp>
      <p:sp>
        <p:nvSpPr>
          <p:cNvPr id="41" name="Text 39"/>
          <p:cNvSpPr/>
          <p:nvPr/>
        </p:nvSpPr>
        <p:spPr>
          <a:xfrm>
            <a:off x="868680" y="587959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— public fast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572000" y="587959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 / kWh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7223760" y="587959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 km/kWh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9875520" y="5879592"/>
            <a:ext cx="1691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₹3.30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July 2026 prices · efficiency real-world (below SIAM certified, incl. E20 mileage drop) · car basis, 15 kWh/100 km EV.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52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 number depends entirely on where you plug 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2E9E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86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CHARGING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₹8/kWh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2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₹1.20 / km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Overnight, domestic slab. This is the “EV is 5× cheaper” number everyone quotes —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5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needs a parking spot with a plug.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15271F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2860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28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DC FAST CHARGING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6517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₹18–26/kWh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92240" y="35204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28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₹3.30 / km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92240" y="42976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5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₹17 · ChargeZone ₹20–25 · Statiq ₹15–25. On the road the EV costs about the same as CNG — </a:t>
            </a:r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more than a diesel is often assumed to.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Advertised 2026 tariffs (GreenTax, ChargeZone, network sites). Home charging assumes a dedicated wall-box + domestic connection.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&amp; CONS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52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you can just refuel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37033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88900" dist="25400" dir="5400000">
              <a:srgbClr val="8A9A92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65960"/>
            <a:ext cx="3429000" cy="658368"/>
          </a:xfrm>
          <a:prstGeom prst="roundRect">
            <a:avLst>
              <a:gd name="adj" fmla="val 13889"/>
            </a:avLst>
          </a:prstGeom>
          <a:solidFill>
            <a:srgbClr val="D2892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95144"/>
            <a:ext cx="3429000" cy="329184"/>
          </a:xfrm>
          <a:prstGeom prst="rect">
            <a:avLst/>
          </a:prstGeom>
          <a:solidFill>
            <a:srgbClr val="D2892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8424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Petrol (E20)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0" y="198424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₹6.25/km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5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to buy, widest choice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2186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5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everywhere, smooth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6027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5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resale, no range worry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404164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running cost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442569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E20 trims mileage 2–6%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480974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heavily taxed fuel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51960" y="1965960"/>
            <a:ext cx="3429000" cy="37033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88900" dist="25400" dir="5400000">
              <a:srgbClr val="8A9A92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51960" y="1965960"/>
            <a:ext cx="3429000" cy="658368"/>
          </a:xfrm>
          <a:prstGeom prst="roundRect">
            <a:avLst>
              <a:gd name="adj" fmla="val 13889"/>
            </a:avLst>
          </a:prstGeom>
          <a:solidFill>
            <a:srgbClr val="5D6E78"/>
          </a:solidFill>
          <a:ln/>
        </p:spPr>
      </p:sp>
      <p:sp>
        <p:nvSpPr>
          <p:cNvPr id="17" name="Shape 15"/>
          <p:cNvSpPr/>
          <p:nvPr/>
        </p:nvSpPr>
        <p:spPr>
          <a:xfrm>
            <a:off x="4251960" y="2295144"/>
            <a:ext cx="3429000" cy="329184"/>
          </a:xfrm>
          <a:prstGeom prst="rect">
            <a:avLst/>
          </a:prstGeom>
          <a:solidFill>
            <a:srgbClr val="5D6E78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198424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Diesel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080760" y="198424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₹4.50/km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80560" y="283464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5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mileage &amp; torque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80560" y="32186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5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highways / high-km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480560" y="36027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5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range per tank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480560" y="404164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Pricier to buy &amp; service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480560" y="442569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10-yr bans in some cities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480560" y="480974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NOx / upkeep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955280" y="1965960"/>
            <a:ext cx="3429000" cy="37033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88900" dist="25400" dir="5400000">
              <a:srgbClr val="8A9A92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955280" y="1965960"/>
            <a:ext cx="3429000" cy="658368"/>
          </a:xfrm>
          <a:prstGeom prst="roundRect">
            <a:avLst>
              <a:gd name="adj" fmla="val 13889"/>
            </a:avLst>
          </a:prstGeom>
          <a:solidFill>
            <a:srgbClr val="2E8FA0"/>
          </a:solidFill>
          <a:ln/>
        </p:spPr>
      </p:sp>
      <p:sp>
        <p:nvSpPr>
          <p:cNvPr id="28" name="Shape 26"/>
          <p:cNvSpPr/>
          <p:nvPr/>
        </p:nvSpPr>
        <p:spPr>
          <a:xfrm>
            <a:off x="7955280" y="2295144"/>
            <a:ext cx="3429000" cy="329184"/>
          </a:xfrm>
          <a:prstGeom prst="rect">
            <a:avLst/>
          </a:prstGeom>
          <a:solidFill>
            <a:srgbClr val="2E8FA0"/>
          </a:solidFill>
          <a:ln/>
        </p:spPr>
      </p:sp>
      <p:sp>
        <p:nvSpPr>
          <p:cNvPr id="29" name="Text 27"/>
          <p:cNvSpPr/>
          <p:nvPr/>
        </p:nvSpPr>
        <p:spPr>
          <a:xfrm>
            <a:off x="8183880" y="198424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CNG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784080" y="198424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₹3.15/km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183880" y="283464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5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fuel you can pump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183880" y="321868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5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burn, low running cost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183880" y="36027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5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Bi-fuel fallback to petrol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183880" y="404164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stations, queues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183880" y="442569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 eats boot space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183880" y="480974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models, less power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basis. CNG has the lowest pump-fuel cost per km of any fossil option; petrol the highest.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&amp; CONS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52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that change the maths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88900" dist="25400" dir="5400000">
              <a:srgbClr val="8A9A92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6596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7A6BB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95144"/>
            <a:ext cx="5394960" cy="329184"/>
          </a:xfrm>
          <a:prstGeom prst="rect">
            <a:avLst/>
          </a:prstGeom>
          <a:solidFill>
            <a:srgbClr val="7A6BB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8424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Hybrid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43400" y="198424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₹4.17/km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5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better mileage than petrol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323697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5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plug, no range anxiety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36393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5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emissions, smooth, quiet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40416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5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Self-charging battery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44988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upfront price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77240" y="490118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GST on large hybrids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53035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cost over long term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240" y="57058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models on sale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0" y="196596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  <a:effectLst>
            <a:outerShdw sx="100000" sy="100000" kx="0" ky="0" algn="bl" rotWithShape="0" blurRad="88900" dist="25400" dir="5400000">
              <a:srgbClr val="8A9A92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965960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2E9E6B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2295144"/>
            <a:ext cx="5394960" cy="329184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198424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 (EV)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12680" y="198424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₹1.20–3.30/km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46520" y="28346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5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Unbeatable on home charging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46520" y="323697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5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tailpipe, 5% GST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46520" y="363931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5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maintenance, quiet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46520" y="40416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15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per km — if you charge at home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46520" y="44988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fast charging dear (₹18–26/kWh)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46520" y="490118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upfront cost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46520" y="53035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/ charging-time anxiety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446520" y="570585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55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replacement &amp; resale risk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 case lives or dies on home-charging access — the single biggest variable in the whole comparison.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OF OWNERSHIP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52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years on a real Tata Nexon — all four fuels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on-road: petrol ₹12.3L · CNG ₹13.3L · diesel ₹14.5L · EV ₹16.0L. 12,000 km/yr, net of resale.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057400"/>
          <a:ext cx="78181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2057400"/>
            <a:ext cx="3154680" cy="3383280"/>
          </a:xfrm>
          <a:prstGeom prst="roundRect">
            <a:avLst>
              <a:gd name="adj" fmla="val 2609"/>
            </a:avLst>
          </a:prstGeom>
          <a:solidFill>
            <a:srgbClr val="15271F"/>
          </a:solidFill>
          <a:ln/>
        </p:spPr>
      </p:sp>
      <p:sp>
        <p:nvSpPr>
          <p:cNvPr id="7" name="Text 4"/>
          <p:cNvSpPr/>
          <p:nvPr/>
        </p:nvSpPr>
        <p:spPr>
          <a:xfrm>
            <a:off x="8732520" y="2240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5-yr total  ·  EMI/month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732520" y="27889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0" y="27889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₹10.0L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607040" y="278892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D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₹27.6k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732520" y="335584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601200" y="335584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₹10.9L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607040" y="3355848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D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₹25.5k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732520" y="392277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601200" y="392277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28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₹11.0L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607040" y="392277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D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₹32.9k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732520" y="448970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601200" y="4489704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₹11.6L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607040" y="4489704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D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₹30.1k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732520" y="5074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D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= on-road, 5-yr, ~9% (EV 8.55% green loan)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48640" y="5623560"/>
            <a:ext cx="11109960" cy="658368"/>
          </a:xfrm>
          <a:prstGeom prst="roundRect">
            <a:avLst>
              <a:gd name="adj" fmla="val 11111"/>
            </a:avLst>
          </a:prstGeom>
          <a:solidFill>
            <a:srgbClr val="2E9E6B"/>
          </a:solidFill>
          <a:ln/>
        </p:spPr>
      </p:sp>
      <p:sp>
        <p:nvSpPr>
          <p:cNvPr id="22" name="Text 19"/>
          <p:cNvSpPr/>
          <p:nvPr/>
        </p:nvSpPr>
        <p:spPr>
          <a:xfrm>
            <a:off x="868680" y="56235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crossover: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12,000 km/yr, CNG wins and EV ≈ petrol — the EV's higher price offsets its cheap running. Above ~25,000 km/yr with home charging, the EV pulls clearly ahead.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Nexon on-road prices (CarWale/CarDekho, Jul 2026); Grand Vitara hybrid a segment up (~₹19.5L, ₹40.5k EMI). Loan rates SBI/HDFC 2026. EV resale ~40% is the key uncertainty.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ACTUALLY PAY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152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stack — upfront, fixed costs &amp; EMI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Nexon, on-road &amp; financed. Beyond fuel, a car costs you an EMI, insurance, road tax and upkeep.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15271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488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697480" y="21488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On-road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0" y="21488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/ mo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532120" y="214884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/ yr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178040" y="21488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 / yr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549640" y="21488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/ yr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875520" y="21488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 / yr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07208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53512"/>
            <a:ext cx="100584" cy="365760"/>
          </a:xfrm>
          <a:prstGeom prst="roundRect">
            <a:avLst>
              <a:gd name="adj" fmla="val 18182"/>
            </a:avLst>
          </a:prstGeom>
          <a:solidFill>
            <a:srgbClr val="D2892C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8072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52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Petrol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697480" y="280720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₹12.3L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114800" y="280720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₹25.5k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532120" y="280720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₹28k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178040" y="280720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₹12k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549640" y="280720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₹75k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875520" y="280720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28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₹4.21L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3447288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593592"/>
            <a:ext cx="100584" cy="365760"/>
          </a:xfrm>
          <a:prstGeom prst="roundRect">
            <a:avLst>
              <a:gd name="adj" fmla="val 18182"/>
            </a:avLst>
          </a:prstGeom>
          <a:solidFill>
            <a:srgbClr val="2E8FA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4472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52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CNG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2697480" y="344728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₹13.3L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114800" y="344728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₹27.6k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532120" y="344728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₹29k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178040" y="344728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₹14k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549640" y="344728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₹38k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875520" y="344728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₹4.12L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48640" y="4087368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233672"/>
            <a:ext cx="100584" cy="365760"/>
          </a:xfrm>
          <a:prstGeom prst="roundRect">
            <a:avLst>
              <a:gd name="adj" fmla="val 18182"/>
            </a:avLst>
          </a:prstGeom>
          <a:solidFill>
            <a:srgbClr val="5D6E78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08736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52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Diesel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2697480" y="408736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₹14.5L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114800" y="408736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₹30.1k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532120" y="408736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₹32k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178040" y="408736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₹18k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549640" y="408736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₹54k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9875520" y="408736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5D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₹4.65L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48640" y="4727448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CE4D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4873752"/>
            <a:ext cx="100584" cy="365760"/>
          </a:xfrm>
          <a:prstGeom prst="roundRect">
            <a:avLst>
              <a:gd name="adj" fmla="val 18182"/>
            </a:avLst>
          </a:prstGeom>
          <a:solidFill>
            <a:srgbClr val="2E9E6B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47274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52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 (home)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2697480" y="472744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₹16.0L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4114800" y="472744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₹32.9k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532120" y="472744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₹38k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7178040" y="4727448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₹6k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8549640" y="472744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₹14k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9875520" y="472744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₹4.53L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548640" y="566928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2E9E6B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566928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Financed,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A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EV's cheap fuel doesn't cover its bigger EMI at 12,000 km/yr — CNG is cheapest all-in. EVs pay more insurance, but many states waive road tax (~₹1L off the on-road).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All-in/yr = EMI×12 + insurance + maintenance + fuel (excl. depreciation). EV on public charging ≈ ₹4.79L/yr. Prices/rates 2026.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2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77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11887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one is right for you?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9E6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2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258568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charging + city driving  →  </a:t>
            </a:r>
            <a:pPr indent="0" marL="0">
              <a:buNone/>
            </a:pPr>
            <a:r>
              <a:rPr lang="en-US" sz="18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 — nothing beats ₹1.20/km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31272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8FA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2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3099816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km / highways, no home plug  →  </a:t>
            </a:r>
            <a:pPr indent="0" marL="0">
              <a:buNone/>
            </a:pPr>
            <a:r>
              <a:rPr lang="en-US" sz="1800" b="1" dirty="0">
                <a:solidFill>
                  <a:srgbClr val="2E8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Diesel or CNG — cheap to run, quick to fill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96849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7A6BB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2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3941064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efficiency with zero hassle  →  </a:t>
            </a:r>
            <a:pPr indent="0" marL="0">
              <a:buNone/>
            </a:pPr>
            <a:r>
              <a:rPr lang="en-US" sz="1800" b="1" dirty="0">
                <a:solidFill>
                  <a:srgbClr val="7A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hybrid — ~24 kmpl, no charging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8097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2892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2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4782312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usage, lowest upfront cost  →  </a:t>
            </a:r>
            <a:pPr indent="0" marL="0">
              <a:buNone/>
            </a:pPr>
            <a:r>
              <a:rPr lang="en-US" sz="1800" b="1" dirty="0">
                <a:solidFill>
                  <a:srgbClr val="D28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Petrol — cheap to buy, dear to run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57150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 wins on running cost only with home charging. On public fast chargers it's a CNG, not a giveaway — plan around where you'll actually plug in.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2026-07-25T00:33:26Z</dcterms:created>
  <dcterms:modified xsi:type="dcterms:W3CDTF">2026-07-25T00:33:26Z</dcterms:modified>
</cp:coreProperties>
</file>