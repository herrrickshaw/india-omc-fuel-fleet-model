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₹/km</c:v>
                </c:pt>
              </c:strCache>
            </c:strRef>
          </c:tx>
          <c:spPr>
            <a:solidFill>
              <a:srgbClr val="D2892C"/>
            </a:solidFill>
            <a:effectLst/>
          </c:spPr>
          <c:invertIfNegative val="0"/>
          <c:dLbls>
            <c:numFmt formatCode="₹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5271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2892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9E6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D6E7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7A6BB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2E8FA0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E9E6B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Petrol (E20)</c:v>
                  </c:pt>
                  <c:pt idx="1">
                    <c:v>EV — public fast</c:v>
                  </c:pt>
                  <c:pt idx="2">
                    <c:v>Diesel</c:v>
                  </c:pt>
                  <c:pt idx="3">
                    <c:v>Hybrid</c:v>
                  </c:pt>
                  <c:pt idx="4">
                    <c:v>CNG</c:v>
                  </c:pt>
                  <c:pt idx="5">
                    <c:v>EV — home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6.25</c:v>
                </c:pt>
                <c:pt idx="1">
                  <c:v>3.3</c:v>
                </c:pt>
                <c:pt idx="2">
                  <c:v>4.5</c:v>
                </c:pt>
                <c:pt idx="3">
                  <c:v>4.17</c:v>
                </c:pt>
                <c:pt idx="4">
                  <c:v>3.15</c:v>
                </c:pt>
                <c:pt idx="5">
                  <c:v>1.2</c:v>
                </c:pt>
              </c:numCache>
            </c:numRef>
          </c:val>
        </c:ser>
        <c:dLbls>
          <c:numFmt formatCode="₹0.00" sourceLinked="0"/>
          <c:txPr>
            <a:bodyPr/>
            <a:lstStyle/>
            <a:p>
              <a:pPr>
                <a:defRPr b="1" i="0" strike="noStrike" sz="1200" u="none">
                  <a:solidFill>
                    <a:srgbClr val="15271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5271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Depreciation (on-road − resale)</c:v>
                </c:pt>
              </c:strCache>
            </c:strRef>
          </c:tx>
          <c:spPr>
            <a:solidFill>
              <a:srgbClr val="5D6E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Petrol</c:v>
                  </c:pt>
                  <c:pt idx="1">
                    <c:v>CNG</c:v>
                  </c:pt>
                  <c:pt idx="2">
                    <c:v>EV</c:v>
                  </c:pt>
                  <c:pt idx="3">
                    <c:v>Diesel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6.5</c:v>
                </c:pt>
                <c:pt idx="1">
                  <c:v>7.4</c:v>
                </c:pt>
                <c:pt idx="2">
                  <c:v>9.6</c:v>
                </c:pt>
                <c:pt idx="3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Fuel + maintenance (5 yr)</c:v>
                </c:pt>
              </c:strCache>
            </c:strRef>
          </c:tx>
          <c:spPr>
            <a:solidFill>
              <a:srgbClr val="2E9E6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Petrol</c:v>
                  </c:pt>
                  <c:pt idx="1">
                    <c:v>CNG</c:v>
                  </c:pt>
                  <c:pt idx="2">
                    <c:v>EV</c:v>
                  </c:pt>
                  <c:pt idx="3">
                    <c:v>Diesel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4.35</c:v>
                </c:pt>
                <c:pt idx="1">
                  <c:v>2.6</c:v>
                </c:pt>
                <c:pt idx="2">
                  <c:v>1.4</c:v>
                </c:pt>
                <c:pt idx="3">
                  <c:v>3.6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5271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15271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27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972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· 2026 · BUYER'S GUIDE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58368" y="1645920"/>
            <a:ext cx="10789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Fuel &amp; vehicle choices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27432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2E8F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Petrol · Diesel · CNG · Hybrid · Electric — what each really costs to run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85800" y="365760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D5E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version — with real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on-road public EV charging rates (₹18–26/kWh)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D5E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not just cheap home charging. Metro prices, real-world efficiency, pros and cons.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85800" y="612648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4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 July 2026 (metro avg) · efficiency SIAM-based · charging tariffs advertised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E8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RUNNING-COST LADDER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1527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costs to drive 1 km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 basis, ₹ per km at the wheel. EV swings hugely with where you charge.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2103120"/>
          <a:ext cx="78638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549640" y="2103120"/>
            <a:ext cx="3108960" cy="4023360"/>
          </a:xfrm>
          <a:prstGeom prst="roundRect">
            <a:avLst>
              <a:gd name="adj" fmla="val 2647"/>
            </a:avLst>
          </a:prstGeom>
          <a:solidFill>
            <a:srgbClr val="15271F"/>
          </a:solidFill>
          <a:ln/>
        </p:spPr>
      </p:sp>
      <p:sp>
        <p:nvSpPr>
          <p:cNvPr id="7" name="Text 4"/>
          <p:cNvSpPr/>
          <p:nvPr/>
        </p:nvSpPr>
        <p:spPr>
          <a:xfrm>
            <a:off x="8778240" y="23317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catch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8778240" y="2880360"/>
            <a:ext cx="265176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home charging the EV is unbeatable — ₹1.20/km. 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5E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on a real public fast charger it's ₹3.30/km — about the same as CNG, and dearer than you'd expect. </a:t>
            </a:r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CNG is the cheapest fuel you can just pump.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Prices: petrol ₹100/L · diesel ₹90/L · CNG ₹82/kg · home ₹8/kWh · public DC ₹22/kWh. Efficiency real-world (SIAM-based).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E8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1527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Price, efficiency &amp; cost per km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11064240" cy="603504"/>
          </a:xfrm>
          <a:prstGeom prst="roundRect">
            <a:avLst>
              <a:gd name="adj" fmla="val 7576"/>
            </a:avLst>
          </a:prstGeom>
          <a:solidFill>
            <a:srgbClr val="15271F"/>
          </a:solidFill>
          <a:ln w="12700">
            <a:solidFill>
              <a:srgbClr val="DCE4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96596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0" y="196596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 price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223760" y="196596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efficiency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875520" y="1965960"/>
            <a:ext cx="1691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/ km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679192"/>
            <a:ext cx="11064240" cy="603504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798064"/>
            <a:ext cx="109728" cy="365760"/>
          </a:xfrm>
          <a:prstGeom prst="roundRect">
            <a:avLst>
              <a:gd name="adj" fmla="val 16667"/>
            </a:avLst>
          </a:prstGeom>
          <a:solidFill>
            <a:srgbClr val="D2892C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679192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7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Petrol (E20)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72000" y="2679192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₹100 / litre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223760" y="2679192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kmpl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9875520" y="2679192"/>
            <a:ext cx="1691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D289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₹6.25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48640" y="3319272"/>
            <a:ext cx="11064240" cy="603504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3438144"/>
            <a:ext cx="109728" cy="365760"/>
          </a:xfrm>
          <a:prstGeom prst="roundRect">
            <a:avLst>
              <a:gd name="adj" fmla="val 16667"/>
            </a:avLst>
          </a:prstGeom>
          <a:solidFill>
            <a:srgbClr val="5D6E78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3319272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7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Diesel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572000" y="3319272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₹90 / litre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7223760" y="3319272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kmpl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9875520" y="3319272"/>
            <a:ext cx="1691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5D6E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₹4.50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48640" y="3959352"/>
            <a:ext cx="11064240" cy="603504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4078224"/>
            <a:ext cx="109728" cy="365760"/>
          </a:xfrm>
          <a:prstGeom prst="roundRect">
            <a:avLst>
              <a:gd name="adj" fmla="val 16667"/>
            </a:avLst>
          </a:prstGeom>
          <a:solidFill>
            <a:srgbClr val="7A6BB0"/>
          </a:solidFill>
          <a:ln/>
        </p:spPr>
      </p:sp>
      <p:sp>
        <p:nvSpPr>
          <p:cNvPr id="23" name="Text 21"/>
          <p:cNvSpPr/>
          <p:nvPr/>
        </p:nvSpPr>
        <p:spPr>
          <a:xfrm>
            <a:off x="868680" y="3959352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7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Hybrid (petrol)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572000" y="3959352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₹100 / litre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7223760" y="3959352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kmpl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9875520" y="3959352"/>
            <a:ext cx="1691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7A6B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₹4.17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548640" y="4599432"/>
            <a:ext cx="11064240" cy="603504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4718304"/>
            <a:ext cx="109728" cy="365760"/>
          </a:xfrm>
          <a:prstGeom prst="roundRect">
            <a:avLst>
              <a:gd name="adj" fmla="val 16667"/>
            </a:avLst>
          </a:prstGeom>
          <a:solidFill>
            <a:srgbClr val="2E8FA0"/>
          </a:solidFill>
          <a:ln/>
        </p:spPr>
      </p:sp>
      <p:sp>
        <p:nvSpPr>
          <p:cNvPr id="29" name="Text 27"/>
          <p:cNvSpPr/>
          <p:nvPr/>
        </p:nvSpPr>
        <p:spPr>
          <a:xfrm>
            <a:off x="868680" y="4599432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7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CNG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4572000" y="4599432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₹82 / kg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7223760" y="4599432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km/kg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9875520" y="4599432"/>
            <a:ext cx="1691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E8F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₹3.15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548640" y="5239512"/>
            <a:ext cx="11064240" cy="603504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48640" y="5358384"/>
            <a:ext cx="109728" cy="365760"/>
          </a:xfrm>
          <a:prstGeom prst="roundRect">
            <a:avLst>
              <a:gd name="adj" fmla="val 16667"/>
            </a:avLst>
          </a:prstGeom>
          <a:solidFill>
            <a:srgbClr val="2E9E6B"/>
          </a:solidFill>
          <a:ln/>
        </p:spPr>
      </p:sp>
      <p:sp>
        <p:nvSpPr>
          <p:cNvPr id="35" name="Text 33"/>
          <p:cNvSpPr/>
          <p:nvPr/>
        </p:nvSpPr>
        <p:spPr>
          <a:xfrm>
            <a:off x="868680" y="5239512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7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 — home charge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4572000" y="5239512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 / kWh</a:t>
            </a:r>
            <a:endParaRPr lang="en-US" sz="1450" dirty="0"/>
          </a:p>
        </p:txBody>
      </p:sp>
      <p:sp>
        <p:nvSpPr>
          <p:cNvPr id="37" name="Text 35"/>
          <p:cNvSpPr/>
          <p:nvPr/>
        </p:nvSpPr>
        <p:spPr>
          <a:xfrm>
            <a:off x="7223760" y="5239512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6.7 km/kWh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9875520" y="5239512"/>
            <a:ext cx="1691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₹1.20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548640" y="5879592"/>
            <a:ext cx="11064240" cy="603504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48640" y="5998464"/>
            <a:ext cx="109728" cy="365760"/>
          </a:xfrm>
          <a:prstGeom prst="roundRect">
            <a:avLst>
              <a:gd name="adj" fmla="val 16667"/>
            </a:avLst>
          </a:prstGeom>
          <a:solidFill>
            <a:srgbClr val="2E9E6B"/>
          </a:solidFill>
          <a:ln/>
        </p:spPr>
      </p:sp>
      <p:sp>
        <p:nvSpPr>
          <p:cNvPr id="41" name="Text 39"/>
          <p:cNvSpPr/>
          <p:nvPr/>
        </p:nvSpPr>
        <p:spPr>
          <a:xfrm>
            <a:off x="868680" y="5879592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7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 — public fast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4572000" y="5879592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₹22 / kWh</a:t>
            </a:r>
            <a:endParaRPr lang="en-US" sz="1450" dirty="0"/>
          </a:p>
        </p:txBody>
      </p:sp>
      <p:sp>
        <p:nvSpPr>
          <p:cNvPr id="43" name="Text 41"/>
          <p:cNvSpPr/>
          <p:nvPr/>
        </p:nvSpPr>
        <p:spPr>
          <a:xfrm>
            <a:off x="7223760" y="5879592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6.7 km/kWh</a:t>
            </a:r>
            <a:endParaRPr lang="en-US" sz="1450" dirty="0"/>
          </a:p>
        </p:txBody>
      </p:sp>
      <p:sp>
        <p:nvSpPr>
          <p:cNvPr id="44" name="Text 42"/>
          <p:cNvSpPr/>
          <p:nvPr/>
        </p:nvSpPr>
        <p:spPr>
          <a:xfrm>
            <a:off x="9875520" y="5879592"/>
            <a:ext cx="1691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₹3.30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 July 2026 prices · efficiency real-world (below SIAM certified, incl. E20 mileage drop) · car basis, 15 kWh/100 km EV.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CORRECTION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1527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EV number depends entirely on where you plug in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539496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9050">
            <a:solidFill>
              <a:srgbClr val="2E9E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2860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CHARGING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651760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₹8/kWh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822960" y="352044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7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₹1.20 / km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22960" y="4297680"/>
            <a:ext cx="48463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Overnight, domestic slab. This is the “EV is 5× cheaper” number everyone quotes — </a:t>
            </a:r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52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it needs a parking spot with a plug.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217920" y="2011680"/>
            <a:ext cx="5394960" cy="3931920"/>
          </a:xfrm>
          <a:prstGeom prst="roundRect">
            <a:avLst>
              <a:gd name="adj" fmla="val 2791"/>
            </a:avLst>
          </a:prstGeom>
          <a:solidFill>
            <a:srgbClr val="15271F"/>
          </a:solidFill>
          <a:ln/>
        </p:spPr>
      </p:sp>
      <p:sp>
        <p:nvSpPr>
          <p:cNvPr id="10" name="Text 8"/>
          <p:cNvSpPr/>
          <p:nvPr/>
        </p:nvSpPr>
        <p:spPr>
          <a:xfrm>
            <a:off x="6492240" y="228600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2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DC FAST CHARGING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92240" y="265176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₹18–26/kWh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92240" y="352044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289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₹3.30 / km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492240" y="4297680"/>
            <a:ext cx="48463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D5E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Tata Power ₹17 · ChargeZone ₹20–25 · Statiq ₹15–25. On the road the EV costs about the same as CNG — </a:t>
            </a:r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more than a diesel is often assumed to.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Advertised 2026 tariffs (GreenTax, ChargeZone, network sites). Home charging assumes a dedicated wall-box + domestic connection.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E8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 &amp; CONS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1527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 you can just refuel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429000" cy="370332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  <a:effectLst>
            <a:outerShdw sx="100000" sy="100000" kx="0" ky="0" algn="bl" rotWithShape="0" blurRad="88900" dist="25400" dir="5400000">
              <a:srgbClr val="8A9A92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965960"/>
            <a:ext cx="3429000" cy="658368"/>
          </a:xfrm>
          <a:prstGeom prst="roundRect">
            <a:avLst>
              <a:gd name="adj" fmla="val 13889"/>
            </a:avLst>
          </a:prstGeom>
          <a:solidFill>
            <a:srgbClr val="D2892C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295144"/>
            <a:ext cx="3429000" cy="329184"/>
          </a:xfrm>
          <a:prstGeom prst="rect">
            <a:avLst/>
          </a:prstGeom>
          <a:solidFill>
            <a:srgbClr val="D2892C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984248"/>
            <a:ext cx="1965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Petrol (E20)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377440" y="1984248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₹6.25/km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283464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250" dirty="0">
                <a:solidFill>
                  <a:srgbClr val="152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Cheapest to buy, widest choice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77240" y="3218688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250" dirty="0">
                <a:solidFill>
                  <a:srgbClr val="152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everywhere, smooth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77240" y="3602736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250" dirty="0">
                <a:solidFill>
                  <a:srgbClr val="152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resale, no range worry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777240" y="4041648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455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pPr indent="0" marL="0">
              <a:buNone/>
            </a:pPr>
            <a:r>
              <a:rPr lang="en-US" sz="125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running cost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77240" y="4425696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455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pPr indent="0" marL="0">
              <a:buNone/>
            </a:pPr>
            <a:r>
              <a:rPr lang="en-US" sz="125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E20 trims mileage 2–6%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77240" y="4809744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455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pPr indent="0" marL="0">
              <a:buNone/>
            </a:pPr>
            <a:r>
              <a:rPr lang="en-US" sz="125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heavily taxed fuel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251960" y="1965960"/>
            <a:ext cx="3429000" cy="370332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  <a:effectLst>
            <a:outerShdw sx="100000" sy="100000" kx="0" ky="0" algn="bl" rotWithShape="0" blurRad="88900" dist="25400" dir="5400000">
              <a:srgbClr val="8A9A92">
                <a:alpha val="2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251960" y="1965960"/>
            <a:ext cx="3429000" cy="658368"/>
          </a:xfrm>
          <a:prstGeom prst="roundRect">
            <a:avLst>
              <a:gd name="adj" fmla="val 13889"/>
            </a:avLst>
          </a:prstGeom>
          <a:solidFill>
            <a:srgbClr val="5D6E78"/>
          </a:solidFill>
          <a:ln/>
        </p:spPr>
      </p:sp>
      <p:sp>
        <p:nvSpPr>
          <p:cNvPr id="17" name="Shape 15"/>
          <p:cNvSpPr/>
          <p:nvPr/>
        </p:nvSpPr>
        <p:spPr>
          <a:xfrm>
            <a:off x="4251960" y="2295144"/>
            <a:ext cx="3429000" cy="329184"/>
          </a:xfrm>
          <a:prstGeom prst="rect">
            <a:avLst/>
          </a:prstGeom>
          <a:solidFill>
            <a:srgbClr val="5D6E78"/>
          </a:solidFill>
          <a:ln/>
        </p:spPr>
      </p:sp>
      <p:sp>
        <p:nvSpPr>
          <p:cNvPr id="18" name="Text 16"/>
          <p:cNvSpPr/>
          <p:nvPr/>
        </p:nvSpPr>
        <p:spPr>
          <a:xfrm>
            <a:off x="4480560" y="1984248"/>
            <a:ext cx="1965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Diesel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080760" y="1984248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₹4.50/km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480560" y="283464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250" dirty="0">
                <a:solidFill>
                  <a:srgbClr val="152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mileage &amp; torque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480560" y="3218688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250" dirty="0">
                <a:solidFill>
                  <a:srgbClr val="152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 for highways / high-km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480560" y="3602736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250" dirty="0">
                <a:solidFill>
                  <a:srgbClr val="152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range per tank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480560" y="4041648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455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pPr indent="0" marL="0">
              <a:buNone/>
            </a:pPr>
            <a:r>
              <a:rPr lang="en-US" sz="125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Pricier to buy &amp; service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480560" y="4425696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455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pPr indent="0" marL="0">
              <a:buNone/>
            </a:pPr>
            <a:r>
              <a:rPr lang="en-US" sz="125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10-yr bans in some cities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480560" y="4809744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455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pPr indent="0" marL="0">
              <a:buNone/>
            </a:pPr>
            <a:r>
              <a:rPr lang="en-US" sz="125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NOx / upkeep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7955280" y="1965960"/>
            <a:ext cx="3429000" cy="370332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  <a:effectLst>
            <a:outerShdw sx="100000" sy="100000" kx="0" ky="0" algn="bl" rotWithShape="0" blurRad="88900" dist="25400" dir="5400000">
              <a:srgbClr val="8A9A92">
                <a:alpha val="2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955280" y="1965960"/>
            <a:ext cx="3429000" cy="658368"/>
          </a:xfrm>
          <a:prstGeom prst="roundRect">
            <a:avLst>
              <a:gd name="adj" fmla="val 13889"/>
            </a:avLst>
          </a:prstGeom>
          <a:solidFill>
            <a:srgbClr val="2E8FA0"/>
          </a:solidFill>
          <a:ln/>
        </p:spPr>
      </p:sp>
      <p:sp>
        <p:nvSpPr>
          <p:cNvPr id="28" name="Shape 26"/>
          <p:cNvSpPr/>
          <p:nvPr/>
        </p:nvSpPr>
        <p:spPr>
          <a:xfrm>
            <a:off x="7955280" y="2295144"/>
            <a:ext cx="3429000" cy="329184"/>
          </a:xfrm>
          <a:prstGeom prst="rect">
            <a:avLst/>
          </a:prstGeom>
          <a:solidFill>
            <a:srgbClr val="2E8FA0"/>
          </a:solidFill>
          <a:ln/>
        </p:spPr>
      </p:sp>
      <p:sp>
        <p:nvSpPr>
          <p:cNvPr id="29" name="Text 27"/>
          <p:cNvSpPr/>
          <p:nvPr/>
        </p:nvSpPr>
        <p:spPr>
          <a:xfrm>
            <a:off x="8183880" y="1984248"/>
            <a:ext cx="1965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CNG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9784080" y="1984248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₹3.15/km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183880" y="283464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250" dirty="0">
                <a:solidFill>
                  <a:srgbClr val="152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Cheapest fuel you can pump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8183880" y="3218688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250" dirty="0">
                <a:solidFill>
                  <a:srgbClr val="152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Cleaner burn, low running cost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183880" y="3602736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250" dirty="0">
                <a:solidFill>
                  <a:srgbClr val="152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Bi-fuel fallback to petrol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8183880" y="4041648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455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pPr indent="0" marL="0">
              <a:buNone/>
            </a:pPr>
            <a:r>
              <a:rPr lang="en-US" sz="125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Sparse stations, queues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8183880" y="4425696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455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pPr indent="0" marL="0">
              <a:buNone/>
            </a:pPr>
            <a:r>
              <a:rPr lang="en-US" sz="125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Cylinder eats boot space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8183880" y="4809744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455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pPr indent="0" marL="0">
              <a:buNone/>
            </a:pPr>
            <a:r>
              <a:rPr lang="en-US" sz="125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models, less power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 basis. CNG has the lowest pump-fuel cost per km of any fossil option; petrol the highest.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 &amp; CONS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1527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that change the maths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394960" cy="41148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  <a:effectLst>
            <a:outerShdw sx="100000" sy="100000" kx="0" ky="0" algn="bl" rotWithShape="0" blurRad="88900" dist="25400" dir="5400000">
              <a:srgbClr val="8A9A92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965960"/>
            <a:ext cx="5394960" cy="658368"/>
          </a:xfrm>
          <a:prstGeom prst="roundRect">
            <a:avLst>
              <a:gd name="adj" fmla="val 13889"/>
            </a:avLst>
          </a:prstGeom>
          <a:solidFill>
            <a:srgbClr val="7A6BB0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295144"/>
            <a:ext cx="5394960" cy="329184"/>
          </a:xfrm>
          <a:prstGeom prst="rect">
            <a:avLst/>
          </a:prstGeom>
          <a:solidFill>
            <a:srgbClr val="7A6BB0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984248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Strong Hybrid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343400" y="1984248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₹4.17/km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283464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350" dirty="0">
                <a:solidFill>
                  <a:srgbClr val="152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~40% better mileage than petrol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77240" y="3236976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350" dirty="0">
                <a:solidFill>
                  <a:srgbClr val="152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plug, no range anxiety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77240" y="3639312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350" dirty="0">
                <a:solidFill>
                  <a:srgbClr val="152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emissions, smooth, quiet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77240" y="4041648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350" dirty="0">
                <a:solidFill>
                  <a:srgbClr val="152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Self-charging battery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77240" y="4498848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455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pPr indent="0" marL="0">
              <a:buNone/>
            </a:pPr>
            <a:r>
              <a:rPr lang="en-US" sz="135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upfront price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77240" y="490118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455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pPr indent="0" marL="0">
              <a:buNone/>
            </a:pPr>
            <a:r>
              <a:rPr lang="en-US" sz="135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 GST on large hybrids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77240" y="530352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455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pPr indent="0" marL="0">
              <a:buNone/>
            </a:pPr>
            <a:r>
              <a:rPr lang="en-US" sz="135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cost over long term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77240" y="5705856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455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pPr indent="0" marL="0">
              <a:buNone/>
            </a:pPr>
            <a:r>
              <a:rPr lang="en-US" sz="135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models on sale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217920" y="1965960"/>
            <a:ext cx="5394960" cy="41148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  <a:effectLst>
            <a:outerShdw sx="100000" sy="100000" kx="0" ky="0" algn="bl" rotWithShape="0" blurRad="88900" dist="25400" dir="5400000">
              <a:srgbClr val="8A9A92">
                <a:alpha val="2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17920" y="1965960"/>
            <a:ext cx="5394960" cy="658368"/>
          </a:xfrm>
          <a:prstGeom prst="roundRect">
            <a:avLst>
              <a:gd name="adj" fmla="val 13889"/>
            </a:avLst>
          </a:prstGeom>
          <a:solidFill>
            <a:srgbClr val="2E9E6B"/>
          </a:solidFill>
          <a:ln/>
        </p:spPr>
      </p:sp>
      <p:sp>
        <p:nvSpPr>
          <p:cNvPr id="19" name="Shape 17"/>
          <p:cNvSpPr/>
          <p:nvPr/>
        </p:nvSpPr>
        <p:spPr>
          <a:xfrm>
            <a:off x="6217920" y="2295144"/>
            <a:ext cx="5394960" cy="329184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20" name="Text 18"/>
          <p:cNvSpPr/>
          <p:nvPr/>
        </p:nvSpPr>
        <p:spPr>
          <a:xfrm>
            <a:off x="6446520" y="1984248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Electric (EV)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012680" y="1984248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₹1.20–3.30/km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446520" y="283464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350" dirty="0">
                <a:solidFill>
                  <a:srgbClr val="152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Unbeatable on home charging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46520" y="3236976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350" dirty="0">
                <a:solidFill>
                  <a:srgbClr val="152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tailpipe, 5% GST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446520" y="3639312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350" dirty="0">
                <a:solidFill>
                  <a:srgbClr val="152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low maintenance, quiet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6446520" y="4041648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350" dirty="0">
                <a:solidFill>
                  <a:srgbClr val="152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Cheapest per km — if you charge at home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446520" y="4498848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455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pPr indent="0" marL="0">
              <a:buNone/>
            </a:pPr>
            <a:r>
              <a:rPr lang="en-US" sz="135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fast charging dear (₹18–26/kWh)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6446520" y="490118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455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pPr indent="0" marL="0">
              <a:buNone/>
            </a:pPr>
            <a:r>
              <a:rPr lang="en-US" sz="135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upfront cost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6446520" y="530352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455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pPr indent="0" marL="0">
              <a:buNone/>
            </a:pPr>
            <a:r>
              <a:rPr lang="en-US" sz="135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/ charging-time anxiety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6446520" y="5705856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455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pPr indent="0" marL="0">
              <a:buNone/>
            </a:pPr>
            <a:r>
              <a:rPr lang="en-US" sz="135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replacement &amp; resale risk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 case lives or dies on home-charging access — the single biggest variable in the whole comparison.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E8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COST OF OWNERSHIP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1527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years on a real Tata Nexon — all four fuels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model, on-road: petrol ₹12.3L · CNG ₹13.3L · diesel ₹14.5L · EV ₹16.0L. 12,000 km/yr, net of resale.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2057400"/>
          <a:ext cx="781812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503920" y="2057400"/>
            <a:ext cx="3154680" cy="3383280"/>
          </a:xfrm>
          <a:prstGeom prst="roundRect">
            <a:avLst>
              <a:gd name="adj" fmla="val 2609"/>
            </a:avLst>
          </a:prstGeom>
          <a:solidFill>
            <a:srgbClr val="15271F"/>
          </a:solidFill>
          <a:ln/>
        </p:spPr>
      </p:sp>
      <p:sp>
        <p:nvSpPr>
          <p:cNvPr id="7" name="Text 4"/>
          <p:cNvSpPr/>
          <p:nvPr/>
        </p:nvSpPr>
        <p:spPr>
          <a:xfrm>
            <a:off x="8732520" y="224028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5-yr total  ·  EMI/month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732520" y="27889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F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CNG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601200" y="278892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₹10.0L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0607040" y="278892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DB4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₹27.6k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732520" y="3355848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F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Petrol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601200" y="3355848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₹10.9L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607040" y="3355848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DB4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₹25.5k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732520" y="392277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F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9601200" y="3922776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D289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₹11.0L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0607040" y="3922776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DB4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₹32.9k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8732520" y="448970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F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Diesel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9601200" y="4489704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₹11.6L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10607040" y="4489704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DB4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₹30.1k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8732520" y="507492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DB4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 = on-road, 5-yr, ~9% (EV 8.55% green loan)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548640" y="5623560"/>
            <a:ext cx="11109960" cy="658368"/>
          </a:xfrm>
          <a:prstGeom prst="roundRect">
            <a:avLst>
              <a:gd name="adj" fmla="val 11111"/>
            </a:avLst>
          </a:prstGeom>
          <a:solidFill>
            <a:srgbClr val="2E9E6B"/>
          </a:solidFill>
          <a:ln/>
        </p:spPr>
      </p:sp>
      <p:sp>
        <p:nvSpPr>
          <p:cNvPr id="22" name="Text 19"/>
          <p:cNvSpPr/>
          <p:nvPr/>
        </p:nvSpPr>
        <p:spPr>
          <a:xfrm>
            <a:off x="868680" y="5623560"/>
            <a:ext cx="10515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crossover: 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F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12,000 km/yr, CNG wins and EV ≈ petrol — the EV's higher price offsets its cheap running. Above ~25,000 km/yr with home charging, the EV pulls clearly ahead.</a:t>
            </a:r>
            <a:endParaRPr lang="en-US" sz="1350" dirty="0"/>
          </a:p>
        </p:txBody>
      </p:sp>
      <p:sp>
        <p:nvSpPr>
          <p:cNvPr id="23" name="Text 20"/>
          <p:cNvSpPr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Nexon on-road prices (CarWale/CarDekho, Jul 2026); Grand Vitara hybrid a segment up (~₹19.5L, ₹40.5k EMI). Loan rates SBI/HDFC 2026. EV resale ~40% is the key uncertainty.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527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7772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BOTTOM LINE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58368" y="118872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one is right for you?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2860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2E9E6B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527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258568"/>
            <a:ext cx="10149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DB4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charging + city driving  →  </a:t>
            </a:r>
            <a:pPr indent="0" marL="0">
              <a:buNone/>
            </a:pPr>
            <a:r>
              <a:rPr lang="en-US" sz="18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Electric — nothing beats ₹1.20/km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312724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2E8FA0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3127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527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371600" y="3099816"/>
            <a:ext cx="10149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DB4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km / highways, no home plug  →  </a:t>
            </a:r>
            <a:pPr indent="0" marL="0">
              <a:buNone/>
            </a:pPr>
            <a:r>
              <a:rPr lang="en-US" sz="1800" b="1" dirty="0">
                <a:solidFill>
                  <a:srgbClr val="2E8F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Diesel or CNG — cheap to run, quick to fill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96849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7A6BB0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3968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527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371600" y="3941064"/>
            <a:ext cx="10149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DB4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efficiency with zero hassle  →  </a:t>
            </a:r>
            <a:pPr indent="0" marL="0">
              <a:buNone/>
            </a:pPr>
            <a:r>
              <a:rPr lang="en-US" sz="1800" b="1" dirty="0">
                <a:solidFill>
                  <a:srgbClr val="7A6B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Strong hybrid — ~24 kmpl, no charging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8097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D2892C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48097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527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371600" y="4782312"/>
            <a:ext cx="10149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DB4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usage, lowest upfront cost  →  </a:t>
            </a:r>
            <a:pPr indent="0" marL="0">
              <a:buNone/>
            </a:pPr>
            <a:r>
              <a:rPr lang="en-US" sz="1800" b="1" dirty="0">
                <a:solidFill>
                  <a:srgbClr val="D289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Petrol — cheap to buy, dear to run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85800" y="571500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i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EV wins on running cost only with home charging. On public fast chargers it's a CNG, not a giveaway — plan around where you'll actually plug in.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2026-07-25T00:14:04Z</dcterms:created>
  <dcterms:modified xsi:type="dcterms:W3CDTF">2026-07-25T00:14:04Z</dcterms:modified>
</cp:coreProperties>
</file>