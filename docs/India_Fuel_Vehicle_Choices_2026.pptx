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₹/km</c:v>
                </c:pt>
              </c:strCache>
            </c:strRef>
          </c:tx>
          <c:spPr>
            <a:solidFill>
              <a:srgbClr val="D2892C"/>
            </a:solidFill>
            <a:effectLst/>
          </c:spPr>
          <c:invertIfNegative val="0"/>
          <c:dLbls>
            <c:numFmt formatCode="₹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527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289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E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D6E7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A6BB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8FA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E9E6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Petrol (E20)</c:v>
                  </c:pt>
                  <c:pt idx="1">
                    <c:v>EV — public fast</c:v>
                  </c:pt>
                  <c:pt idx="2">
                    <c:v>Diesel</c:v>
                  </c:pt>
                  <c:pt idx="3">
                    <c:v>Hybrid</c:v>
                  </c:pt>
                  <c:pt idx="4">
                    <c:v>CNG</c:v>
                  </c:pt>
                  <c:pt idx="5">
                    <c:v>EV — home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6.25</c:v>
                </c:pt>
                <c:pt idx="1">
                  <c:v>3.3</c:v>
                </c:pt>
                <c:pt idx="2">
                  <c:v>4.5</c:v>
                </c:pt>
                <c:pt idx="3">
                  <c:v>4.17</c:v>
                </c:pt>
                <c:pt idx="4">
                  <c:v>3.15</c:v>
                </c:pt>
                <c:pt idx="5">
                  <c:v>1.2</c:v>
                </c:pt>
              </c:numCache>
            </c:numRef>
          </c:val>
        </c:ser>
        <c:dLbls>
          <c:numFmt formatCode="₹0.00" sourceLinked="0"/>
          <c:txPr>
            <a:bodyPr/>
            <a:lstStyle/>
            <a:p>
              <a:pPr>
                <a:defRPr b="1" i="0" strike="noStrike" sz="1200" u="none">
                  <a:solidFill>
                    <a:srgbClr val="1527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27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· 2026 · BUYER'S GUIDE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64592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Fuel &amp; vehicle choices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2743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8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Petrol · Diesel · CNG · Hybrid · Electric — what each really costs to run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36576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version — with real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on-road public EV charging rates (₹18–26/kWh)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just cheap home charging. Metro prices, real-world efficiency, pros and cons.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612648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July 2026 (metro avg) · efficiency SIAM-based · charging tariffs advertised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RUNNING-COST LADDER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costs to drive 1 km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basis, ₹ per km at the wheel. EV swings hugely with where you charge.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2103120"/>
          <a:ext cx="78638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103120"/>
            <a:ext cx="3108960" cy="4023360"/>
          </a:xfrm>
          <a:prstGeom prst="roundRect">
            <a:avLst>
              <a:gd name="adj" fmla="val 2647"/>
            </a:avLst>
          </a:prstGeom>
          <a:solidFill>
            <a:srgbClr val="15271F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catch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778240" y="2880360"/>
            <a:ext cx="2651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home charging the EV is unbeatable — ₹1.20/km.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5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on a real public fast charger it's ₹3.30/km — about the same as CNG, and dearer than you'd expect.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CNG is the cheapest fuel you can just pump.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Prices: petrol ₹100/L · diesel ₹90/L · CNG ₹82/kg · home ₹8/kWh · public DC ₹22/kWh. Efficiency real-world (SIAM-based).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Price, efficiency &amp; cost per km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271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0" y="196596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price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223760" y="196596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efficiency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875520" y="1965960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km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9806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D2892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67919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Petrol (E20)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26791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₹100 / litre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23760" y="26791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kmpl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875520" y="267919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D289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₹6.25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31927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43814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5D6E7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1927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Diesel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0" y="331927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/ litre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223760" y="331927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kmpl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875520" y="331927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D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₹4.50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395935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07822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7A6BB0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395935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(petrol)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0" y="395935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₹100 / litre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223760" y="395935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kmpl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875520" y="395935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A6B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₹4.17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459943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71830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2E8FA0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45994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CNG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72000" y="459943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₹82 / kg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7223760" y="459943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km/kg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875520" y="459943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8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₹3.15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523951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35838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2E9E6B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523951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— home charge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4572000" y="523951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 / kWh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7223760" y="523951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 km/kWh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875520" y="523951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₹1.20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48640" y="587959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5998464"/>
            <a:ext cx="109728" cy="365760"/>
          </a:xfrm>
          <a:prstGeom prst="roundRect">
            <a:avLst>
              <a:gd name="adj" fmla="val 16667"/>
            </a:avLst>
          </a:prstGeom>
          <a:solidFill>
            <a:srgbClr val="2E9E6B"/>
          </a:solidFill>
          <a:ln/>
        </p:spPr>
      </p:sp>
      <p:sp>
        <p:nvSpPr>
          <p:cNvPr id="41" name="Text 39"/>
          <p:cNvSpPr/>
          <p:nvPr/>
        </p:nvSpPr>
        <p:spPr>
          <a:xfrm>
            <a:off x="868680" y="587959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— public fast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58795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 / kWh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7223760" y="58795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 km/kWh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9875520" y="5879592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₹3.30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July 2026 prices · efficiency real-world (below SIAM certified, incl. E20 mileage drop) · car basis, 15 kWh/100 km EV.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 number depends entirely on where you plug 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CHARGING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₹8/kWh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5204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₹1.20 / km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429768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Overnight, domestic slab. This is the “EV is 5× cheaper” number everyone quotes — 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needs a parking spot with a plug.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201168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15271F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2860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DC FAST CHARGING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₹18–26/kWh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92240" y="352044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289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₹3.30 / km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92240" y="429768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D5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₹17 · ChargeZone ₹20–25 · Statiq ₹15–25. On the road the EV costs about the same as CNG — 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more than a diesel is often assumed to.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 2026 tariffs (GreenTax, ChargeZone, network sites). Home charging assumes a dedicated wall-box + domestic connection.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 &amp; CONS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you can just refuel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37033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2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65960"/>
            <a:ext cx="3429000" cy="658368"/>
          </a:xfrm>
          <a:prstGeom prst="roundRect">
            <a:avLst>
              <a:gd name="adj" fmla="val 13889"/>
            </a:avLst>
          </a:prstGeom>
          <a:solidFill>
            <a:srgbClr val="D2892C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95144"/>
            <a:ext cx="3429000" cy="329184"/>
          </a:xfrm>
          <a:prstGeom prst="rect">
            <a:avLst/>
          </a:prstGeom>
          <a:solidFill>
            <a:srgbClr val="D289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8424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Petrol (E20)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198424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₹6.25/km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to buy, widest choice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321868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everywhere, smooth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360273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resale, no range worry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404164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running cost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77240" y="44256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E20 trims mileage 2–6%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80974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heavily taxed fuel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251960" y="1965960"/>
            <a:ext cx="3429000" cy="37033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2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51960" y="1965960"/>
            <a:ext cx="3429000" cy="658368"/>
          </a:xfrm>
          <a:prstGeom prst="roundRect">
            <a:avLst>
              <a:gd name="adj" fmla="val 13889"/>
            </a:avLst>
          </a:prstGeom>
          <a:solidFill>
            <a:srgbClr val="5D6E78"/>
          </a:solidFill>
          <a:ln/>
        </p:spPr>
      </p:sp>
      <p:sp>
        <p:nvSpPr>
          <p:cNvPr id="17" name="Shape 15"/>
          <p:cNvSpPr/>
          <p:nvPr/>
        </p:nvSpPr>
        <p:spPr>
          <a:xfrm>
            <a:off x="4251960" y="2295144"/>
            <a:ext cx="3429000" cy="329184"/>
          </a:xfrm>
          <a:prstGeom prst="rect">
            <a:avLst/>
          </a:prstGeom>
          <a:solidFill>
            <a:srgbClr val="5D6E78"/>
          </a:solidFill>
          <a:ln/>
        </p:spPr>
      </p:sp>
      <p:sp>
        <p:nvSpPr>
          <p:cNvPr id="18" name="Text 16"/>
          <p:cNvSpPr/>
          <p:nvPr/>
        </p:nvSpPr>
        <p:spPr>
          <a:xfrm>
            <a:off x="4480560" y="198424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Diesel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080760" y="198424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₹4.50/km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80560" y="28346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mileage &amp; torque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480560" y="321868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for highways / high-km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480560" y="360273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range per tank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80560" y="404164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Pricier to buy &amp; service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480560" y="44256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10-yr bans in some cities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480560" y="480974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NOx / upkeep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955280" y="1965960"/>
            <a:ext cx="3429000" cy="37033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2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955280" y="1965960"/>
            <a:ext cx="3429000" cy="658368"/>
          </a:xfrm>
          <a:prstGeom prst="roundRect">
            <a:avLst>
              <a:gd name="adj" fmla="val 13889"/>
            </a:avLst>
          </a:prstGeom>
          <a:solidFill>
            <a:srgbClr val="2E8FA0"/>
          </a:solidFill>
          <a:ln/>
        </p:spPr>
      </p:sp>
      <p:sp>
        <p:nvSpPr>
          <p:cNvPr id="28" name="Shape 26"/>
          <p:cNvSpPr/>
          <p:nvPr/>
        </p:nvSpPr>
        <p:spPr>
          <a:xfrm>
            <a:off x="7955280" y="2295144"/>
            <a:ext cx="3429000" cy="329184"/>
          </a:xfrm>
          <a:prstGeom prst="rect">
            <a:avLst/>
          </a:prstGeom>
          <a:solidFill>
            <a:srgbClr val="2E8FA0"/>
          </a:solidFill>
          <a:ln/>
        </p:spPr>
      </p:sp>
      <p:sp>
        <p:nvSpPr>
          <p:cNvPr id="29" name="Text 27"/>
          <p:cNvSpPr/>
          <p:nvPr/>
        </p:nvSpPr>
        <p:spPr>
          <a:xfrm>
            <a:off x="8183880" y="1984248"/>
            <a:ext cx="1965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CNG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784080" y="198424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₹3.15/km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183880" y="28346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fuel you can pump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183880" y="321868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 burn, low running cost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183880" y="360273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2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Bi-fuel fallback to petrol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183880" y="404164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stations, queues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183880" y="44256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Cylinder eats boot space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183880" y="480974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2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models, less power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basis. CNG has the lowest pump-fuel cost per km of any fossil option; petrol the highest.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 &amp; CONS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that change the maths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2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6596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7A6BB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95144"/>
            <a:ext cx="5394960" cy="329184"/>
          </a:xfrm>
          <a:prstGeom prst="rect">
            <a:avLst/>
          </a:prstGeom>
          <a:solidFill>
            <a:srgbClr val="7A6BB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8424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Hybrid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343400" y="198424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₹4.17/km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~40% better mileage than petrol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323697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plug, no range anxiety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6393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emissions, smooth, quiet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77240" y="40416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Self-charging battery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44988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upfront price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9011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GST on large hybrids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7240" y="5303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cost over long term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77240" y="570585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models on sale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17920" y="196596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2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965960"/>
            <a:ext cx="5394960" cy="658368"/>
          </a:xfrm>
          <a:prstGeom prst="roundRect">
            <a:avLst>
              <a:gd name="adj" fmla="val 13889"/>
            </a:avLst>
          </a:prstGeom>
          <a:solidFill>
            <a:srgbClr val="2E9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2295144"/>
            <a:ext cx="5394960" cy="329184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198424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 (EV)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12680" y="198424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₹1.20–3.30/km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46520" y="28346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Unbeatable on home charging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46520" y="323697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tailpipe, 5% GST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363931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 maintenance, quiet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46520" y="40416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5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per km — if you charge at home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46520" y="44988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fast charging dear (₹18–26/kWh)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46520" y="49011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upfront cost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/ charging-time anxiety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46520" y="570585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55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pPr indent="0" marL="0">
              <a:buNone/>
            </a:pPr>
            <a:r>
              <a:rPr lang="en-US" sz="135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replacement &amp; resale risk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 case lives or dies on home-charging access — the single biggest variable in the whole comparison.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2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one is right for you?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E9E6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258568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charging + city driving  →  </a:t>
            </a:r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 — nothing beats ₹1.20/km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31272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E8FA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3099816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km / highways, no home plug  →  </a:t>
            </a:r>
            <a:pPr indent="0" marL="0">
              <a:buNone/>
            </a:pPr>
            <a:r>
              <a:rPr lang="en-US" sz="1800" b="1" dirty="0">
                <a:solidFill>
                  <a:srgbClr val="2E8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Diesel or CNG — cheap to run, quick to fill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96849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7A6BB0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71600" y="3941064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efficiency with zero hassle  →  </a:t>
            </a:r>
            <a:pPr indent="0" marL="0">
              <a:buNone/>
            </a:pPr>
            <a:r>
              <a:rPr lang="en-US" sz="1800" b="1" dirty="0">
                <a:solidFill>
                  <a:srgbClr val="7A6B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hybrid — ~24 kmpl, no charging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8097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D2892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27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71600" y="4782312"/>
            <a:ext cx="1014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4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usage, lowest upfront cost  →  </a:t>
            </a:r>
            <a:pPr indent="0" marL="0">
              <a:buNone/>
            </a:pPr>
            <a:r>
              <a:rPr lang="en-US" sz="1800" b="1" dirty="0">
                <a:solidFill>
                  <a:srgbClr val="D289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Petrol — cheap to buy, dear to run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57150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i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 wins on running cost only with home charging. On public fast chargers it's a CNG, not a giveaway — plan around where you'll actually plug in.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2026-07-25T00:02:18Z</dcterms:created>
  <dcterms:modified xsi:type="dcterms:W3CDTF">2026-07-25T00:02:18Z</dcterms:modified>
</cp:coreProperties>
</file>