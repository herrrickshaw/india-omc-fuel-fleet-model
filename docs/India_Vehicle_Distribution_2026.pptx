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CNG</c:v>
                </c:pt>
              </c:strCache>
            </c:strRef>
          </c:tx>
          <c:spPr>
            <a:solidFill>
              <a:srgbClr val="D2892C"/>
            </a:solidFill>
            <a:ln w="34925" cap="flat">
              <a:solidFill>
                <a:srgbClr val="D289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2892C"/>
              </a:solidFill>
              <a:ln w="9525" cap="flat">
                <a:solidFill>
                  <a:srgbClr val="D289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Top 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All 36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17.6</c:v>
                </c:pt>
                <c:pt idx="1">
                  <c:v>64.4</c:v>
                </c:pt>
                <c:pt idx="2">
                  <c:v>89.5</c:v>
                </c:pt>
                <c:pt idx="3">
                  <c:v>97</c:v>
                </c:pt>
                <c:pt idx="4">
                  <c:v>99.6</c:v>
                </c:pt>
                <c:pt idx="5">
                  <c:v>99.9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vehicles</c:v>
                </c:pt>
              </c:strCache>
            </c:strRef>
          </c:tx>
          <c:spPr>
            <a:solidFill>
              <a:srgbClr val="2E8FA0"/>
            </a:solidFill>
            <a:ln w="34925" cap="flat">
              <a:solidFill>
                <a:srgbClr val="2E8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8FA0"/>
              </a:solidFill>
              <a:ln w="9525" cap="flat">
                <a:solidFill>
                  <a:srgbClr val="2E8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Top 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All 36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13.7</c:v>
                </c:pt>
                <c:pt idx="1">
                  <c:v>47</c:v>
                </c:pt>
                <c:pt idx="2">
                  <c:v>71</c:v>
                </c:pt>
                <c:pt idx="3">
                  <c:v>86.9</c:v>
                </c:pt>
                <c:pt idx="4">
                  <c:v>97.1</c:v>
                </c:pt>
                <c:pt idx="5">
                  <c:v>99</c:v>
                </c:pt>
                <c:pt idx="6">
                  <c:v>99.7</c:v>
                </c:pt>
                <c:pt idx="7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If evenly spread</c:v>
                </c:pt>
              </c:strCache>
            </c:strRef>
          </c:tx>
          <c:spPr>
            <a:solidFill>
              <a:srgbClr val="9DB4A9"/>
            </a:solidFill>
            <a:ln w="34925" cap="flat">
              <a:solidFill>
                <a:srgbClr val="9DB4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DB4A9"/>
              </a:solidFill>
              <a:ln w="9525" cap="flat">
                <a:solidFill>
                  <a:srgbClr val="9DB4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Top 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All 36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2.8</c:v>
                </c:pt>
                <c:pt idx="1">
                  <c:v>13.9</c:v>
                </c:pt>
                <c:pt idx="2">
                  <c:v>27.8</c:v>
                </c:pt>
                <c:pt idx="3">
                  <c:v>41.7</c:v>
                </c:pt>
                <c:pt idx="4">
                  <c:v>55.6</c:v>
                </c:pt>
                <c:pt idx="5">
                  <c:v>69.4</c:v>
                </c:pt>
                <c:pt idx="6">
                  <c:v>83.3</c:v>
                </c:pt>
                <c:pt idx="7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5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4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51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VAHAN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vehicle map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fleet is — and how concentrated each fuel 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states hold half of India's ~18 million registrations.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some fuels — CNG above all — are far more concentrated than others.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Vahan4 dashboard · state × fuel · CY2026 year-to-date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states that drive the aggregate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87121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vehicles in the top 5 states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· Mah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87121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markets (13.7% · 10.9%)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21762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states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54496" y="287121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half the national fleet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101600" dist="25400" dir="5400000">
              <a:srgbClr val="8A9A9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33688" y="2176272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43416" y="2871216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vehicles in the top 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4251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leads each type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leads total, petrol and EV (its EV lead is e-rickshaws) · Maharashtra leads diesel, CNG and strong hybrids.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share: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penetration highest in the east/northeast (Tripura, Assam ~17%, e-rickshaws) and Delhi (~12%); CNG highest in Haryana, Gujarat, Delhi — the mature CGD states.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Vahan4, CY2026 YTD, all 36 states/UTs. Absolute leaders differ from penetration leaders.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42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 is far more concentrated than petrol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share of each fuel held by the top-N states. The higher the curve, the more concentrated.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103120"/>
            <a:ext cx="3108960" cy="4023360"/>
          </a:xfrm>
          <a:prstGeom prst="roundRect">
            <a:avLst>
              <a:gd name="adj" fmla="val 2647"/>
            </a:avLst>
          </a:prstGeom>
          <a:solidFill>
            <a:srgbClr val="14251D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0" y="288036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states hold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CNG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all vehicles.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clusters in the CGD-network states; petrol &amp; diesel track population evenly. So CNG's fuel-substitution effect is regional — ethanol's is national.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Lorenz-style cumulative curve. Petrol ≈ 'all vehicles' (near-identical). HHI: CNG 1,056 vs petrol/total ~667. Vahan CY2026 YTD.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2026-07-25T01:12:37Z</dcterms:created>
  <dcterms:modified xsi:type="dcterms:W3CDTF">2026-07-25T01:12:37Z</dcterms:modified>
</cp:coreProperties>
</file>