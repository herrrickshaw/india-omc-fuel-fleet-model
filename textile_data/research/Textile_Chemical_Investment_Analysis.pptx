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Textile &amp; Chemical Sector Investment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6600"/>
                </a:solidFill>
              </a:defRPr>
            </a:pPr>
            <a:r>
              <a:t>Master Investment List + Import Substitution Opportunity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Investment Analysis | July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Total Ecosystem Capex (FY26-FY30): ₹250,000+ Crore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Annual Import Substitution Opportunity: ₹4,500-5,500 Crore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🏆 Tier-1 Anchor Companies: 9 entities with ₹180,000 Cr (72% of capex)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⚠️ CRITICAL DEADLINE: Mar 2026 for BPCL Bina LLDPE supply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📈 Margin Recovery Timeline: FY27-30 (INDUTECH +₹210-280M, CLOTHTECH +₹300-400M)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🚀 New Company Targeting: 50-80 companies for investment in FY26-30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Investment Landscape (FY26-30)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Tier 1 (&gt;₹5,000 Cr): ₹180,000 Cr — RIL O2C (₹75K), BPCL (₹18.9K), PM Mitra parks (₹70K)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Tier 2 (₹1,000-5,000 Cr): ₹45,000 Cr — Trident, Jain Cord, Arvind, AB Cotspin, Indorama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Tier 3 (₹300-1,000 Cr): ₹5,000 Cr — Atul, Bodal, Winsome, RSVPM, Best Corp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Tier 4 (₹100-300 Cr): ₹3,000 Cr — Emerging/regional players, specialty niche companies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Tier 5 (Recycling): ₹5,000 Cr — RE&amp;UP (₹4.8K), Aquafil, circular economy players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Government Support: ₹30,000 Cr — PLI (₹10.7K), PM Mitra, TEEM, Tex Eco, PCPIR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Tier-1 Companies (&gt;₹5,000 Cr Capex)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83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Capex (₹ 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Focus Area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Reliance Industries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Petrochemical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+1.8 MMTPA PE, +1.0 PP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BPCL (Bina + AP)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Petrochemical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18,900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FY27-28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+1.0 MMTPA LLDPE, Specialty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PM Mitra Parks 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Textile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All segments, 300K+ jobs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Trident Group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Textiles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4,881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HOMETECH (towels, rugs)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Indorama Ventures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Polyester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3,000-5,000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FY27-28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+0.8 MMTPA Paradeep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Tier-2 Companies (₹1,000-5,000 Cr)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83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Capex (₹ 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Margin Opportunity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Jain Cord Industries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INDUTECH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₹210-280M (LLDPE-dependent)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AB Cotspin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1,300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Yarn supply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Ecosystem enabler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Arvind Mills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CLOTHTECH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+₹300-400M margin swing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Sanathan Textiles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Specialty polyester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Premium blends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Best Corp Tiruppur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MOBILTECH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₹150-200M (specialty polymers)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Import Substitution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🔴 PRIORITY 1 - LLDPE (Linear Low-Density PE): ₹1.8-2.0B import → 80% substitution by FY28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Current: 100% imported from Saudi Arabia | Supplier: BPCL Bina (+1.0 MMTPA)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Cost Savings: $150-200/MT | Affected Segment: INDUTECH nonwovens, geotextiles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🔴 PRIORITY 2 - Polyester Chips/Fiber: ₹3.2-3.6B import → 75% substitution by FY28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Current: 40% imported | Suppliers: Indorama, IOCL Bhadrak (+1.2 MMTPA combined)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Cost Savings: $100-250/MT | Affected Segment: CLOTHTECH weaving, apparel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🔴 PRIORITY 3 - Polyethylene: ₹5.6-6.0B import → 75% substitution by FY30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Current: 40% imported | Supplier: RIL O2C (+1.8 MMTPA)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Cost Savings: $50-150/MT | Affected Segment: PACKTECH films, laminates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HSN Code Mapping - High Priority Products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83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HSN Code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Current Import (₹ 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Substitution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Companies to 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LLDPE (Film)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800-900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Nonwoven/film converters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Polyester Chips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3907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1,600-1,800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Weavers, integrated mills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Polyester Filament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600-700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Knit mills, fabric makers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Specialty Dyes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3204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300-400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Dye manufacturers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Aromatic Hydrocarbons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600-700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Chemical intermediates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Segment-wise Margin Recovery Opportunity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5764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Current Margin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FY30 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Profit Swing (₹ 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Key Driver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HOMETECH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89%+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0 (LOCKED)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Scale + dyes integration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CLOTHTECH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+15.8%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300-400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Polyester cost parity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INDUTECH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-80.9%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210-280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LLDPE substitution (CRITICAL)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MOBILTECH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-50%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150-200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Specialty polymers (BPCL)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PACKTECH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89%+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0 (PROTECTED)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RIL PE supply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TOTAL UPLIFT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810-1,130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FY28-30 realization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New Company Targeting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LLDPE Entry Profile (10-15 companies): INDUTECH converters with ₹300-500 KTPA imports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Capex: ₹400-600 Cr | ROI: 4-6 years | Cost savings: $150-200/MT × 300 KTPA = $45-60M/yr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Polyester Entry Profile (15-20 companies): Regional weavers with ₹800-1,000 KTPA imports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Capex: ₹500-800 Cr | ROI: 4-6 years | Cost savings: $100-200/MT × 600 KTPA = $60-120M/yr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PE/PP Entry Profile (5-10 companies): Film extruders with ₹400-800 KTPA consumption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Capex: ₹200-400 Cr | ROI: 4-6 years | Cost savings: $50-150/MT × 400 KTPA = $20-60M/yr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Specialty Chemical Entry (5-10 companies): Dye/pigment makers for ecosystem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Capex: ₹150-350 Cr | ROI: 3-5 years | Margin uplift: 30-35% specialty focus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Capex Timeline: FY26-FY30 Phasing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📌 Phase 1 (FY26): Contract &amp; Land Allocation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Spend: ₹15-20K Cr | BPCL LLDPE/Indorama supply contracts (DEADLINE: Mar 2026)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Action: Secure land, finalize equipment specs, board approvals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📌 Phase 2 (FY27): Construction &amp; Equipment Installation — PEAK 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Spend: ₹50-60K Cr | RIL O2C, BPCL, Trident, Jain Cord, Indorama construction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Action: Equipment delivery, civil works, factory construction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📌 Phase 3 (FY28): Production Ramp &amp; First Shipments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Spend: ₹40-50K Cr | BPCL Bina LLDPE online (Q3 FY28), production 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Action: Commissioning, quality validation, customer ramp-up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📌 Phase 4 (FY29-30): Full Capacity &amp; Stabilization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Spend: ₹30-40K Cr | All projects operational, margin recovery peaks (FY28-30)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Investment Distribution by Geographic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06070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Capex (₹ 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Key Companies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Strategic Advantage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Coastal (PCPIR + Ports)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138,000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RIL, Indorama, IOCL, BPCL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Port access, refining base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Inland (Dhar, Rajasthan)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PM Mitra parks, textiles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Cotton zones, cost advantage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Emerging (Bihar, others)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Regional mills, MSME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New industrial corridors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TOTAL ECOSYSTEM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250,000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50-80 companies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All-India fabric coverage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Critical Success Factors &amp; 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🔴 URGENT: Lock BPCL Bina LLDPE supply contracts by Mar 2026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First-come-first-served allocation | Miss deadline = 1-2 year delay in margin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$150-200/MT savings only for early signers | Cost parity lost for late entrants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🟡 Manage execution risk in PM Mitra parks (historically 50-70% completion 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Anchor tenants (Trident, Jain Cord, Arvind) de-risked with land allotment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Smaller players require government subsidy coordination (40% machinery, 20-30% power)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🟢 RIL O2C &amp; BPCL capex on-track (environmental clearance progressing)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Feedstock supply guaranteed by FY27-28 for downstream conversion capex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→ All downstream players should stage capex to align with feedstock online 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Go-to-Market Strategy for New Entrants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1 (FY26 - Q1-Q2): Contracting &amp;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1. Identify BPCL/Indorama supply contracts (deadline Jun 2026)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2. Secure land (10-25 acres) within 500 km of feedstock supplier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3. Prepare project reports, secure board/financing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2 (FY27-28): Construction &amp; Production Ramp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1. Equipment procurement (12-18 month lead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2. Pilot production &amp; buyer quality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3. Scale to 50-70% design capacity by FY28-Q3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PHASE 3 (FY28-30): Market Capture &amp; Margin Realization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1. Secure long-term customer contracts (3-5 year supply locks)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2. Achieve ₹150-300M annual profit per ₹500-800 Cr capex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 3. Plan Phase 2 expansion (adjacent products, markets)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Investment Scoring Matrix (Score &gt;8 = Core, 6-8 = Opportunistic)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75764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Capex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Trident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4.9K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HOMETECH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9/10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Jain Cord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2.5K Cr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INDUTECH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8.5/10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Arvind Mills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1.0K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CLOTHTECH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AB Cotspin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1.3K Cr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Yarn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FY27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Low-Med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7.5/10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RSVPM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0.7K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MOBILTECH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FY28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7.5/10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RE&amp;UP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4.8K Cr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Recycling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FY26-28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6.5/10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Top 10 New Company Entry Profiles by Segment &amp; Opportunity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8213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Profile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Capex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Opportunity (₹ 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Tier-2 nonwoven producer (₹50-100 Cr rev)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LLDPE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400-600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510-710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Regional weaving mill (₹100-200 Cr rev)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Polyester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500-800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850-1,050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Film converter (₹50-100 Cr rev)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200-400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200-300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Auto-textile supplier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Specialty polymers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300-500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150-250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Chemical company (dye production)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Specialty dyes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150-350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100-150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Geotextile producer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PE/LLDPE blend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200-400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150-250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Apparel 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Polyester fiber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300-500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100-200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Textile chemical firm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Finishing agents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150-300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100-150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Pigment/paint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Pigments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100-250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50-100</a:t>
                      </a:r>
                    </a:p>
                  </a:txBody>
                  <a:tcPr/>
                </a:tc>
              </a:tr>
              <a:tr h="4821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Regional specialty cluster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Multi-segment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800-1,500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500-1,000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Expected Impact by FY30 (2029-30)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📊 Import Substitution: ₹18,500-20,600 Cr annual imports → 70-80% domestically sourced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💰 Annual Margin Recovery: ₹810-1,130 Crore profit uplift across ecosystem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🏭 Domestic Feedstock Capacity Additions: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Polyethylene: +1.8 MMTPA (RIL) | LLDPE: +1.0 MMTPA (BPCL)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Polyester: +1.2 MMTPA (Indorama + IOCL) | Specialty: +0.9 MMTPA (BPCL AP)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💼 Investment Catalysts: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50-80 new companies entering ecosystem | 300,000+ direct jobs created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• ₹250,000 Cr capex deployed over 5 years | Export competitiveness +40% by FY30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⚡ Cost Advantage: Domestic polyester, LLDPE, PE cost parity achieved by FY28-30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Action Items: Next 90 Days (Jul-Sep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BPCL LLDPE Supply Contracts (DEADLINE: Mar 2026 — ALREADY PASSED, execute immediately)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Action: Engage procurement teams, negotiate 3-5yr offtake agreements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Impact: $150-200/MT cost savings locked for FY27-28 production ramp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Indorama Polyester Long-term Pricing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Action: Secure allocation from Paradeep/Kalyan expansion (first-come-first-served)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Impact: ₹300-400M annual margin recovery for CLOTHTECH ecosystem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PM Mitra Land Allotment Confirmation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Action: 90% of 91 companies should confirm land allocation by Jun 2026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Impact: Enables FY27 capex spend acceleration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🎯 Identify &amp; Shortlist New Entry Companies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Action: Outreach to 20-30 nonwoven, weaving, film converter companies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Impact: 50-80 company ecosystem lock-in for FY26-30 capex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1️⃣  ₹250,000+ Crore ecosystem capex opportunity over FY26-30 (72% in Tier-1 companies)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2️⃣  Import substitution potential: ₹4,500-5,500 Cr annually by FY30 (70-80% penetration)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3️⃣  Margin recovery concentrated in 3 segments: INDUTECH (₹210-280M), CLOTHTECH (₹300-400M), MOBILTECH (₹150-200M)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4️⃣  Critical deadline: Mar 2026 for BPCL Bina LLDPE contracts → Every month delay = $30-50M annual opportunity 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5️⃣  New company targeting: 50-80 companies in LLDPE, polyester, PE, specialty chemicals ready for entry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6️⃣  Timeline: FY27 is peak capex year (₹50-60K Cr spend) → Production ramp FY27-28 → Full margin realization FY28-30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